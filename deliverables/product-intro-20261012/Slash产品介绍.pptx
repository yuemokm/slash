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679531644e4611" /><Relationship Type="http://schemas.openxmlformats.org/officeDocument/2006/relationships/extended-properties" Target="/docProps/app.xml" Id="R2432a3b47b1e4744" /><Relationship Type="http://schemas.openxmlformats.org/officeDocument/2006/relationships/officeDocument" Target="/ppt/presentation.xml" Id="R8f4d43687984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558bf4d8641e9"/>
  </p:sldMasterIdLst>
  <p:notesMasterIdLst>
    <p:notesMasterId xmlns:r="http://schemas.openxmlformats.org/officeDocument/2006/relationships" r:id="R68e8d65a203c4b11"/>
  </p:notesMasterIdLst>
  <p:sldIdLst>
    <p:sldId xmlns:r="http://schemas.openxmlformats.org/officeDocument/2006/relationships" id="256" r:id="R0fedba7fc4234efa"/>
    <p:sldId xmlns:r="http://schemas.openxmlformats.org/officeDocument/2006/relationships" id="257" r:id="Rab5816cae3204539"/>
    <p:sldId xmlns:r="http://schemas.openxmlformats.org/officeDocument/2006/relationships" id="258" r:id="Re35b725b09154828"/>
    <p:sldId xmlns:r="http://schemas.openxmlformats.org/officeDocument/2006/relationships" id="259" r:id="Re3eb0cd5e82e4635"/>
    <p:sldId xmlns:r="http://schemas.openxmlformats.org/officeDocument/2006/relationships" id="260" r:id="R5edd9a45b8c54a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3a879ae9a41ec" /><Relationship Type="http://schemas.openxmlformats.org/officeDocument/2006/relationships/slideMaster" Target="/ppt/slideMasters/slideMaster1.xml" Id="R553558bf4d8641e9" /><Relationship Type="http://schemas.openxmlformats.org/officeDocument/2006/relationships/notesMaster" Target="/ppt/notesMasters/notesMaster1.xml" Id="R68e8d65a203c4b11" /><Relationship Type="http://schemas.openxmlformats.org/officeDocument/2006/relationships/presProps" Target="/ppt/presProps.xml" Id="R719da0d4cd684245" /><Relationship Type="http://schemas.openxmlformats.org/officeDocument/2006/relationships/tableStyles" Target="/ppt/tableStyles.xml" Id="Rb455eb373dd048a1" /><Relationship Type="http://schemas.openxmlformats.org/officeDocument/2006/relationships/slide" Target="/ppt/slides/slide1.xml" Id="R0fedba7fc4234efa" /><Relationship Type="http://schemas.openxmlformats.org/officeDocument/2006/relationships/slide" Target="/ppt/slides/slide2.xml" Id="Rab5816cae3204539" /><Relationship Type="http://schemas.openxmlformats.org/officeDocument/2006/relationships/slide" Target="/ppt/slides/slide3.xml" Id="Re35b725b09154828" /><Relationship Type="http://schemas.openxmlformats.org/officeDocument/2006/relationships/slide" Target="/ppt/slides/slide4.xml" Id="Re3eb0cd5e82e4635" /><Relationship Type="http://schemas.openxmlformats.org/officeDocument/2006/relationships/slide" Target="/ppt/slides/slide5.xml" Id="R5edd9a45b8c5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16baaa884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03df694274b58" /><Relationship Type="http://schemas.openxmlformats.org/officeDocument/2006/relationships/notesMaster" Target="/ppt/notesMasters/notesMaster1.xml" Id="R8dbf2a60025144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0323d0fde048ee" /><Relationship Type="http://schemas.openxmlformats.org/officeDocument/2006/relationships/notesMaster" Target="/ppt/notesMasters/notesMaster1.xml" Id="Ra054a49ce705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c1ef92a9ea404f" /><Relationship Type="http://schemas.openxmlformats.org/officeDocument/2006/relationships/notesMaster" Target="/ppt/notesMasters/notesMaster1.xml" Id="Rf2ce629769734f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fdaa5ab9f44d3e" /><Relationship Type="http://schemas.openxmlformats.org/officeDocument/2006/relationships/notesMaster" Target="/ppt/notesMasters/notesMaster1.xml" Id="R5ea7cf1d959f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f0b3047c94f6f" /><Relationship Type="http://schemas.openxmlformats.org/officeDocument/2006/relationships/notesMaster" Target="/ppt/notesMasters/notesMaster1.xml" Id="Rf2cb1abe414047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来源：docs/architecture-current.md、docs/architecture-current-system.mmd；main/agent.ts、main/service.ts；main/pi-subagents.ts createDefaultChildSessionFactory使用pi.createAgentSession、独立内存SessionManager、只读工具及授权guard。架构关系复用已验收video-source/hyperframes/ARCHITECTURE-NOTES.md与frame-04-at-29.0s.png。图为当前同进程模块逻辑，不代表独立微服务或主Agent沙箱。Service保存SQLite任务状态，Pi保存会话历史，文件保存草稿和快照，进度和结果经IPC回到界面。模型请求使用外部API，本地优先不等于全离线。云知识库及向量能力已移除。Pi优势为公开SDK提供模型接入、会话上下文与工具循环，Slash补桌面、权限、来源版本和交付适配，并不说明复杂任务已稳定验收。Pi官方 https://pi.dev/ 。OpenClaw历史固定来源 https://github.com/openclaw/openclaw/blob/4f297a094aeb24ca3e37abc84134d84e5868c069/docs/pi.md 。当前官方说明 https://docs.openclaw.ai/pi ，不能表述当前仍依赖Pi。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模型设置实际截图及src模型设置组件；shared/schema.ts模型协议枚举；src/GlobalSkillsSettings.tsx本地importFolder与installGithub。当前Slash未实现模型官方订阅OAuth登录，不能由Pi支持OAuth推导已接入。当前无自带skill-creator创建按钮，可在外部创建SKILL.md再导入。截图来自当前真实Electron界面，素材身份见assets/assets-manifest.json与deck-source/assets-used.json。</a:t>
            </a:r>
          </a:p>
          <a:p xmlns:a="http://schemas.openxmlformats.org/drawingml/2006/main">
            <a:br/>
            <a:r>
              <a:t>截图：assets/03-model-connection-fields.png；SHA256 c33c89ed5ae3f36916aa315b548088032581dffeb6ec057cd9c938cc3d833e8f；baseline采集当前built独立Electron profile；真实添加模型表单，API密钥为空，未触发新模型测试；裁切仅放大配置字段。</a:t>
            </a:r>
          </a:p>
          <a:p xmlns:a="http://schemas.openxmlformats.org/drawingml/2006/main">
            <a:br/>
            <a:r>
              <a:t>截图：assets/05-skills-local-github.png；SHA256 ea311f363e1c062398f238e9dd1859539a1212a9ac46aca43ae760820bbfc1f4；baseline采集当前built独立Electron profile；真实添加技能表单，未安装技能到用户环境，未虚构内置Skill Creator。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omposerControls.tsx权限与模式标签；src/App.tsx活动Run权限模式切换。08是真实斜杠指令展开菜单，底部Build与标准权限控件仍闭合；06/07菜单采集失败，未用于本页，不声称真实权限菜单截图。Plan只读研究规划，Build允许执行，自动接受针对成果编辑，其它能力仍依设置。完全访问不提升Windows身份，明确禁止、只读、Plan和操作系统权限优先；普通修改仍有草稿/ChangeSet/版本保护。完全访问读取项目外精确资料目录依据docs/full-access-explicit-read-directory-2026-10-12.md。斜杠指令采集时未发送。</a:t>
            </a:r>
          </a:p>
          <a:p xmlns:a="http://schemas.openxmlformats.org/drawingml/2006/main">
            <a:br/>
            <a:r>
              <a:t>截图：assets/08-slash-commands.png；SHA256 d1487e76dc70790c64fda33ec93d4b0cbe545355229415b66ad0ed4d6402a574；baseline后台采集真实built Electron页面，菜单实际展开，未用原生鼠标切换窗口。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haring-network-drive.md；真实右侧详情/成果/文件与共享文件夹设置截图。SMB指向原共享目录，不复制整个目录；接收者可在Windows资源管理器看到映射盘符。当前未完成双机验收，不能宣称实时多人协作编辑或免冲突。会话发起成果编辑，资源视图用于查看、选择、引用和定位。</a:t>
            </a:r>
          </a:p>
          <a:p xmlns:a="http://schemas.openxmlformats.org/drawingml/2006/main">
            <a:br/>
            <a:r>
              <a:t>截图：assets/09-smb-sharing.png；SHA256 cd6b84714c9671fc1a3478cc4b4085d4ee33eac883487dff697674237d5f4e7c；真实共享管理入口；未创建共享或连接网络盘，双机未验。</a:t>
            </a:r>
          </a:p>
          <a:p xmlns:a="http://schemas.openxmlformats.org/drawingml/2006/main">
            <a:br/>
            <a:r>
              <a:t>截图：assets/11-right-source-files.png；SHA256 b4dc03a5e22f956bc2e1d41ba561d8d5834391d3f797d1fbe04f6b58d787f36a；真实合成需求文件与右侧文件栏；仅裁切侧栏，当时任务检查中。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来源：assets/assets-manifest.json correctedRun及assets/FACTS-AND-LIMITS.md。真实Run939fad97-92ee-488a-bdc3-dbabfd0450c8，elapsedMs268281，status succeeded，1轮自动修正，automaticReportStatus passed，businessCoverage unverified，ChangeSet f5693e6f-26fd-4e03-9afc-cdba38e45744，draftApplied false。14-prd-final-preview.png为任务结束后重新打开当前草稿的真实图。资料为演示编写的合成预约需求，未用私人PRD。首次错误挂载Run succeeded但无ChangeSet不能算生成成功，历史保留。本页仅说明正确请求形成待应用草稿，不宣称业务验收通过或已保存正式项目，不人工修订模型成果。</a:t>
            </a:r>
          </a:p>
          <a:p xmlns:a="http://schemas.openxmlformats.org/drawingml/2006/main">
            <a:br/>
            <a:r>
              <a:t>截图：assets/14-prd-final-preview.png；SHA256 bd975890159253b6b8a0f35c8d805824d47522e07afa21085ff3dfa8d54f76df；真实最终草稿与任务状态，自动检查passed、业务覆盖unverified，草稿未应用；裁切放大上半部。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9605b883b43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f487d89d449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c6e77d0b24b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f2946866045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d501e109541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29f6376b7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C327BB-BF66-4091-8CA1-3906D8387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F1AACE-2F4C-4D7F-8BD3-F9853AE75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C2BA2C-233C-4A13-9549-CFA48D291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08B360-BCA6-41CA-AFEC-38A47C1E0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20A16D-31A1-436A-8A60-C7D6332D93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47214F-EDBA-4F0A-A11F-2501CAD81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E8B2E1-389C-421F-8AA4-2456CABF59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4CF89D-CD10-4FD5-9F02-080C7190D4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CDCF3A-FB51-41AC-A4F8-566D76665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8F3B16-4FBA-4F67-B4A5-88A12E90F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7619f8b234952" /><Relationship Type="http://schemas.openxmlformats.org/officeDocument/2006/relationships/slideLayout" Target="/ppt/slideLayouts/slideLayout1.xml" Id="Rb9d98e02661348a7" /><Relationship Type="http://schemas.openxmlformats.org/officeDocument/2006/relationships/slideLayout" Target="/ppt/slideLayouts/slideLayout2.xml" Id="R12bac6a25df347cc" /><Relationship Type="http://schemas.openxmlformats.org/officeDocument/2006/relationships/slideLayout" Target="/ppt/slideLayouts/slideLayout3.xml" Id="R79c47d2c10a3428f" /><Relationship Type="http://schemas.openxmlformats.org/officeDocument/2006/relationships/slideLayout" Target="/ppt/slideLayouts/slideLayout4.xml" Id="Rc828bc4244154f99" /><Relationship Type="http://schemas.openxmlformats.org/officeDocument/2006/relationships/slideLayout" Target="/ppt/slideLayouts/slideLayout5.xml" Id="R84ddd2aba2fe4209" /><Relationship Type="http://schemas.openxmlformats.org/officeDocument/2006/relationships/slideLayout" Target="/ppt/slideLayouts/slideLayout6.xml" Id="Rfcc4efc2c3834c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98e02661348a7"/>
    <p:sldLayoutId xmlns:r="http://schemas.openxmlformats.org/officeDocument/2006/relationships" id="2147483650" r:id="R12bac6a25df347cc"/>
    <p:sldLayoutId xmlns:r="http://schemas.openxmlformats.org/officeDocument/2006/relationships" id="2147483651" r:id="R79c47d2c10a3428f"/>
    <p:sldLayoutId xmlns:r="http://schemas.openxmlformats.org/officeDocument/2006/relationships" id="2147483652" r:id="Rc828bc4244154f99"/>
    <p:sldLayoutId xmlns:r="http://schemas.openxmlformats.org/officeDocument/2006/relationships" id="2147483653" r:id="R84ddd2aba2fe4209"/>
    <p:sldLayoutId xmlns:r="http://schemas.openxmlformats.org/officeDocument/2006/relationships" id="2147483654" r:id="Rfcc4efc2c3834c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6766a27c14e8f" /><Relationship Type="http://schemas.openxmlformats.org/officeDocument/2006/relationships/notesSlide" Target="/ppt/notesSlides/notesSlide1.xml" Id="Ra7e423e91e664f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f2398c6274c7d" /><Relationship Type="http://schemas.openxmlformats.org/officeDocument/2006/relationships/image" Target="/ppt/media/image.png" Id="R3dd8e265716442b6" /><Relationship Type="http://schemas.openxmlformats.org/officeDocument/2006/relationships/image" Target="/ppt/media/image2.png" Id="R993e9269406a49db" /><Relationship Type="http://schemas.openxmlformats.org/officeDocument/2006/relationships/notesSlide" Target="/ppt/notesSlides/notesSlide2.xml" Id="R1a171c7f90f747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afc255f0a492c" /><Relationship Type="http://schemas.openxmlformats.org/officeDocument/2006/relationships/image" Target="/ppt/media/image3.png" Id="R0ce872df574846e5" /><Relationship Type="http://schemas.openxmlformats.org/officeDocument/2006/relationships/notesSlide" Target="/ppt/notesSlides/notesSlide3.xml" Id="R4716344e3e20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1532158454cc0" /><Relationship Type="http://schemas.openxmlformats.org/officeDocument/2006/relationships/image" Target="/ppt/media/image4.png" Id="R10bd5acee3b34fce" /><Relationship Type="http://schemas.openxmlformats.org/officeDocument/2006/relationships/image" Target="/ppt/media/image5.png" Id="R051bef90bd8c4ad4" /><Relationship Type="http://schemas.openxmlformats.org/officeDocument/2006/relationships/notesSlide" Target="/ppt/notesSlides/notesSlide4.xml" Id="R17c2dab9c734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5acb741d445aa" /><Relationship Type="http://schemas.openxmlformats.org/officeDocument/2006/relationships/image" Target="/ppt/media/image6.png" Id="Rf7b205df30564fd7" /><Relationship Type="http://schemas.openxmlformats.org/officeDocument/2006/relationships/notesSlide" Target="/ppt/notesSlides/notesSlide5.xml" Id="R92c2dab82bee4a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Slash">
            <a:extLst xmlns:a="http://schemas.openxmlformats.org/drawingml/2006/main">
              <a:ext uri="{FF2B5EF4-FFF2-40B4-BE49-F238E27FC236}">
                <a16:creationId xmlns:a16="http://schemas.microsoft.com/office/drawing/2014/main" id="{B8D1B349-84CC-4F45-A304-8BE1833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Slash：面向产品经理的 Agent">
            <a:extLst xmlns:a="http://schemas.openxmlformats.org/drawingml/2006/main">
              <a:ext uri="{FF2B5EF4-FFF2-40B4-BE49-F238E27FC236}">
                <a16:creationId xmlns:a16="http://schemas.microsoft.com/office/drawing/2014/main" id="{21D64D65-FB6E-44C8-A8CF-E57314B8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Slash：面向产品经理的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42988-B3A9-4F3E-A63D-B6183288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563BFC90-92F6-4224-9D8B-520ACF2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1 / 05">
            <a:extLst xmlns:a="http://schemas.openxmlformats.org/drawingml/2006/main">
              <a:ext uri="{FF2B5EF4-FFF2-40B4-BE49-F238E27FC236}">
                <a16:creationId xmlns:a16="http://schemas.microsoft.com/office/drawing/2014/main" id="{151EC704-D68A-4836-80F4-78AD9B6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  <p:sp>
        <p:nvSpPr>
          <p:cNvPr id="6" name="会话发起资料研究、PRD 与交互原型，右侧查看资料和成果。">
            <a:extLst xmlns:a="http://schemas.openxmlformats.org/drawingml/2006/main">
              <a:ext uri="{FF2B5EF4-FFF2-40B4-BE49-F238E27FC236}">
                <a16:creationId xmlns:a16="http://schemas.microsoft.com/office/drawing/2014/main" id="{722974B4-48F3-4769-A873-306FCECC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1120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会话发起资料研究、PRD 与交互原型，右侧查看资料和成果。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4C1FF-2315-49AF-A320-2CB8FC8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9277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E3F"/>
          </a:solidFill>
          <a:ln xmlns:a="http://schemas.openxmlformats.org/drawingml/2006/main" w="0">
            <a:noFill/>
          </a:ln>
        </p:spPr>
      </p:sp>
      <p:sp>
        <p:nvSpPr>
          <p:cNvPr id="8" name="桌面会话">
            <a:extLst xmlns:a="http://schemas.openxmlformats.org/drawingml/2006/main">
              <a:ext uri="{FF2B5EF4-FFF2-40B4-BE49-F238E27FC236}">
                <a16:creationId xmlns:a16="http://schemas.microsoft.com/office/drawing/2014/main" id="{3F8E4F02-36A5-43EA-A95F-E55A9607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桌面会话</a:t>
            </a:r>
          </a:p>
        </p:txBody>
      </p:sp>
      <p:sp>
        <p:nvSpPr>
          <p:cNvPr id="9" name="Plan / Build    资料与成果    模型 / Skill">
            <a:extLst xmlns:a="http://schemas.openxmlformats.org/drawingml/2006/main">
              <a:ext uri="{FF2B5EF4-FFF2-40B4-BE49-F238E27FC236}">
                <a16:creationId xmlns:a16="http://schemas.microsoft.com/office/drawing/2014/main" id="{F84E980A-26C7-4C32-B3E2-A27BC681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62125"/>
            <a:ext cx="613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 / Build    资料与成果    模型 / Skills / 连接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79DE2-7749-49DA-8729-C4DFAA8A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9277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A"/>
          </a:solidFill>
          <a:ln xmlns:a="http://schemas.openxmlformats.org/drawingml/2006/main" w="0">
            <a:noFill/>
          </a:ln>
        </p:spPr>
      </p:sp>
      <p:sp>
        <p:nvSpPr>
          <p:cNvPr id="11" name="IPC：界面请求、进度与结果">
            <a:extLst xmlns:a="http://schemas.openxmlformats.org/drawingml/2006/main">
              <a:ext uri="{FF2B5EF4-FFF2-40B4-BE49-F238E27FC236}">
                <a16:creationId xmlns:a16="http://schemas.microsoft.com/office/drawing/2014/main" id="{CF8EB65A-EC67-4675-8FDB-8D86E1D7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IPC：界面请求、进度与结果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88D68-7D97-439D-BC86-AB8E676B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927735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3" name="Electron 主进程内的协作模块">
            <a:extLst xmlns:a="http://schemas.openxmlformats.org/drawingml/2006/main">
              <a:ext uri="{FF2B5EF4-FFF2-40B4-BE49-F238E27FC236}">
                <a16:creationId xmlns:a16="http://schemas.microsoft.com/office/drawing/2014/main" id="{BF25A546-678A-4826-A15B-39F85E5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Electron 主进程内的协作模块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B2078-EA71-4CDF-A4DA-1BCF910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5" name="任务协调 Service">
            <a:extLst xmlns:a="http://schemas.openxmlformats.org/drawingml/2006/main">
              <a:ext uri="{FF2B5EF4-FFF2-40B4-BE49-F238E27FC236}">
                <a16:creationId xmlns:a16="http://schemas.microsoft.com/office/drawing/2014/main" id="{FB0DAD38-B26D-4BB6-9F3A-4C85555F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任务协调 Service</a:t>
            </a:r>
          </a:p>
        </p:txBody>
      </p:sp>
      <p:sp>
        <p:nvSpPr>
          <p:cNvPr id="16" name="任务状态、恢复与模型路由">
            <a:extLst xmlns:a="http://schemas.openxmlformats.org/drawingml/2006/main">
              <a:ext uri="{FF2B5EF4-FFF2-40B4-BE49-F238E27FC236}">
                <a16:creationId xmlns:a16="http://schemas.microsoft.com/office/drawing/2014/main" id="{1472EC8D-A8D0-416B-90EC-67D04D1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任务状态、恢复与模型路由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08F24-AB92-4582-9A29-CBE1630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37433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8" name="上下文与资料">
            <a:extLst xmlns:a="http://schemas.openxmlformats.org/drawingml/2006/main">
              <a:ext uri="{FF2B5EF4-FFF2-40B4-BE49-F238E27FC236}">
                <a16:creationId xmlns:a16="http://schemas.microsoft.com/office/drawing/2014/main" id="{7A80516C-AC28-454D-BDE8-CD77163B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14650"/>
            <a:ext cx="3514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上下文与资料</a:t>
            </a:r>
          </a:p>
        </p:txBody>
      </p:sp>
      <p:sp>
        <p:nvSpPr>
          <p:cNvPr id="19" name="规则、Skills、引用资料、工作记忆">
            <a:extLst xmlns:a="http://schemas.openxmlformats.org/drawingml/2006/main">
              <a:ext uri="{FF2B5EF4-FFF2-40B4-BE49-F238E27FC236}">
                <a16:creationId xmlns:a16="http://schemas.microsoft.com/office/drawing/2014/main" id="{7E496D50-0910-41B6-9F6C-26845E74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00400"/>
            <a:ext cx="3514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规则、Skills、引用资料、工作记忆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3471E-43E7-42A2-94EA-A9BB288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A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1" name="Pi AgentSession">
            <a:extLst xmlns:a="http://schemas.openxmlformats.org/drawingml/2006/main">
              <a:ext uri="{FF2B5EF4-FFF2-40B4-BE49-F238E27FC236}">
                <a16:creationId xmlns:a16="http://schemas.microsoft.com/office/drawing/2014/main" id="{22D14A1B-8A96-48E1-9CFD-52DD41CC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90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Pi AgentSession</a:t>
            </a:r>
          </a:p>
        </p:txBody>
      </p:sp>
      <p:sp>
        <p:nvSpPr>
          <p:cNvPr id="22" name="复用模型接入、会话上下文与工具循环">
            <a:extLst xmlns:a="http://schemas.openxmlformats.org/drawingml/2006/main">
              <a:ext uri="{FF2B5EF4-FFF2-40B4-BE49-F238E27FC236}">
                <a16:creationId xmlns:a16="http://schemas.microsoft.com/office/drawing/2014/main" id="{F9645685-1705-4AE7-931E-4DA7510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复用模型接入、会话上下文与工具循环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9D047-A86E-456A-BE2C-1429989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714750"/>
            <a:ext cx="2524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4" name="只读子 Agent">
            <a:extLst xmlns:a="http://schemas.openxmlformats.org/drawingml/2006/main">
              <a:ext uri="{FF2B5EF4-FFF2-40B4-BE49-F238E27FC236}">
                <a16:creationId xmlns:a16="http://schemas.microsoft.com/office/drawing/2014/main" id="{DBEEDA82-416E-44C9-B33A-993B29B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9095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只读子 Agent</a:t>
            </a:r>
          </a:p>
        </p:txBody>
      </p:sp>
      <p:sp>
        <p:nvSpPr>
          <p:cNvPr id="25" name="研究与检查，继承权限">
            <a:extLst xmlns:a="http://schemas.openxmlformats.org/drawingml/2006/main">
              <a:ext uri="{FF2B5EF4-FFF2-40B4-BE49-F238E27FC236}">
                <a16:creationId xmlns:a16="http://schemas.microsoft.com/office/drawing/2014/main" id="{95ABF6E3-81E0-4BA5-8670-279E813B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76700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研究与检查，继承权限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ECEF5-076A-4F4E-9AD8-FFAE951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7" name="工具网关与适配">
            <a:extLst xmlns:a="http://schemas.openxmlformats.org/drawingml/2006/main">
              <a:ext uri="{FF2B5EF4-FFF2-40B4-BE49-F238E27FC236}">
                <a16:creationId xmlns:a16="http://schemas.microsoft.com/office/drawing/2014/main" id="{3FAD2AB9-E340-49F7-B447-3D8CA6E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工具网关与适配</a:t>
            </a:r>
          </a:p>
        </p:txBody>
      </p:sp>
      <p:sp>
        <p:nvSpPr>
          <p:cNvPr id="28" name="先检查模式、权限与参数">
            <a:extLst xmlns:a="http://schemas.openxmlformats.org/drawingml/2006/main">
              <a:ext uri="{FF2B5EF4-FFF2-40B4-BE49-F238E27FC236}">
                <a16:creationId xmlns:a16="http://schemas.microsoft.com/office/drawing/2014/main" id="{417D2480-9798-4831-89FF-2C9C670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先检查模式、权限与参数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57875-76B8-434B-8D80-6A276A9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19625"/>
            <a:ext cx="39909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0" name="质量与交付">
            <a:extLst xmlns:a="http://schemas.openxmlformats.org/drawingml/2006/main">
              <a:ext uri="{FF2B5EF4-FFF2-40B4-BE49-F238E27FC236}">
                <a16:creationId xmlns:a16="http://schemas.microsoft.com/office/drawing/2014/main" id="{35A32F36-B448-4474-B60E-8415494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95825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质量与交付</a:t>
            </a:r>
          </a:p>
        </p:txBody>
      </p:sp>
      <p:sp>
        <p:nvSpPr>
          <p:cNvPr id="31" name="草稿与版本、检查预览、确认保存">
            <a:extLst xmlns:a="http://schemas.openxmlformats.org/drawingml/2006/main">
              <a:ext uri="{FF2B5EF4-FFF2-40B4-BE49-F238E27FC236}">
                <a16:creationId xmlns:a16="http://schemas.microsoft.com/office/drawing/2014/main" id="{06182BBB-093A-4183-ABF9-6444E60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8157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草稿与版本、检查预览、确认保存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0F928-8DC8-46C2-AB55-E8A704C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2324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3" name="SQLite 任务状态">
            <a:extLst xmlns:a="http://schemas.openxmlformats.org/drawingml/2006/main">
              <a:ext uri="{FF2B5EF4-FFF2-40B4-BE49-F238E27FC236}">
                <a16:creationId xmlns:a16="http://schemas.microsoft.com/office/drawing/2014/main" id="{E96E203A-E0CC-4188-8A10-B6F47AE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SQLite 任务状态</a:t>
            </a:r>
          </a:p>
        </p:txBody>
      </p:sp>
      <p:sp>
        <p:nvSpPr>
          <p:cNvPr id="34" name="审批与操作回执">
            <a:extLst xmlns:a="http://schemas.openxmlformats.org/drawingml/2006/main">
              <a:ext uri="{FF2B5EF4-FFF2-40B4-BE49-F238E27FC236}">
                <a16:creationId xmlns:a16="http://schemas.microsoft.com/office/drawing/2014/main" id="{C91B02ED-0032-402B-8F58-752C54FF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审批与操作回执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1E1224-EEFA-4633-9AFE-4239AC27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22002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6" name="Pi 会话历史">
            <a:extLst xmlns:a="http://schemas.openxmlformats.org/drawingml/2006/main">
              <a:ext uri="{FF2B5EF4-FFF2-40B4-BE49-F238E27FC236}">
                <a16:creationId xmlns:a16="http://schemas.microsoft.com/office/drawing/2014/main" id="{6BBC4E7D-29DE-4262-8A45-87659BF6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8640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 会话历史</a:t>
            </a:r>
          </a:p>
        </p:txBody>
      </p:sp>
      <p:sp>
        <p:nvSpPr>
          <p:cNvPr id="37" name="消息与模型上下文">
            <a:extLst xmlns:a="http://schemas.openxmlformats.org/drawingml/2006/main">
              <a:ext uri="{FF2B5EF4-FFF2-40B4-BE49-F238E27FC236}">
                <a16:creationId xmlns:a16="http://schemas.microsoft.com/office/drawing/2014/main" id="{461AA073-96F3-41D3-BC52-39318DA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72150"/>
            <a:ext cx="197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消息与模型上下文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D23E6-46D7-4419-B05B-876DA4E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10200"/>
            <a:ext cx="24955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9" name="项目文件与快照">
            <a:extLst xmlns:a="http://schemas.openxmlformats.org/drawingml/2006/main">
              <a:ext uri="{FF2B5EF4-FFF2-40B4-BE49-F238E27FC236}">
                <a16:creationId xmlns:a16="http://schemas.microsoft.com/office/drawing/2014/main" id="{42F901B3-5BB1-4FA4-BA0F-392B2EA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86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项目文件与快照</a:t>
            </a:r>
          </a:p>
        </p:txBody>
      </p:sp>
      <p:sp>
        <p:nvSpPr>
          <p:cNvPr id="40" name="草稿与历史版本">
            <a:extLst xmlns:a="http://schemas.openxmlformats.org/drawingml/2006/main">
              <a:ext uri="{FF2B5EF4-FFF2-40B4-BE49-F238E27FC236}">
                <a16:creationId xmlns:a16="http://schemas.microsoft.com/office/drawing/2014/main" id="{FF231C0A-993B-47D5-AAD7-F7E0B5E4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721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草稿与历史版本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25B607-5BF2-4101-8020-D8E9799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10200"/>
            <a:ext cx="1838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42" name="受控预览">
            <a:extLst xmlns:a="http://schemas.openxmlformats.org/drawingml/2006/main">
              <a:ext uri="{FF2B5EF4-FFF2-40B4-BE49-F238E27FC236}">
                <a16:creationId xmlns:a16="http://schemas.microsoft.com/office/drawing/2014/main" id="{E9BBC3FE-9311-413B-AC88-F1D41A9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受控预览</a:t>
            </a:r>
          </a:p>
        </p:txBody>
      </p:sp>
      <p:sp>
        <p:nvSpPr>
          <p:cNvPr id="43" name="HTML 与截图检查">
            <a:extLst xmlns:a="http://schemas.openxmlformats.org/drawingml/2006/main">
              <a:ext uri="{FF2B5EF4-FFF2-40B4-BE49-F238E27FC236}">
                <a16:creationId xmlns:a16="http://schemas.microsoft.com/office/drawing/2014/main" id="{A2B73429-A441-4642-9597-664DE54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7721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HTML 与截图检查</a:t>
            </a:r>
          </a:p>
        </p:txBody>
      </p:sp>
      <p:sp>
        <p:nvSpPr>
          <p:cNvPr id="44" name="外部服务与共享">
            <a:extLst xmlns:a="http://schemas.openxmlformats.org/drawingml/2006/main">
              <a:ext uri="{FF2B5EF4-FFF2-40B4-BE49-F238E27FC236}">
                <a16:creationId xmlns:a16="http://schemas.microsoft.com/office/drawing/2014/main" id="{7E8431A8-2652-4A65-B5BF-65B8CD7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574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外部服务与共享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79DF84-339B-43A8-9389-0C17D3E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46" name="模型 API">
            <a:extLst xmlns:a="http://schemas.openxmlformats.org/drawingml/2006/main">
              <a:ext uri="{FF2B5EF4-FFF2-40B4-BE49-F238E27FC236}">
                <a16:creationId xmlns:a16="http://schemas.microsoft.com/office/drawing/2014/main" id="{75DBFF56-4EB6-46C3-B260-52840F0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241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模型 API</a:t>
            </a:r>
          </a:p>
        </p:txBody>
      </p:sp>
      <p:sp>
        <p:nvSpPr>
          <p:cNvPr id="47" name="文字与图片请求">
            <a:extLst xmlns:a="http://schemas.openxmlformats.org/drawingml/2006/main">
              <a:ext uri="{FF2B5EF4-FFF2-40B4-BE49-F238E27FC236}">
                <a16:creationId xmlns:a16="http://schemas.microsoft.com/office/drawing/2014/main" id="{7EF233C5-2F6A-47BD-B2D4-D93D974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9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文字与图片请求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391AC4-3094-4826-98DC-6E7843C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19625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49" name="MCP / 官方 CLI">
            <a:extLst xmlns:a="http://schemas.openxmlformats.org/drawingml/2006/main">
              <a:ext uri="{FF2B5EF4-FFF2-40B4-BE49-F238E27FC236}">
                <a16:creationId xmlns:a16="http://schemas.microsoft.com/office/drawing/2014/main" id="{6DFDF022-C5DD-4C5D-865D-72DFA0A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MCP / 官方 CLI</a:t>
            </a:r>
          </a:p>
        </p:txBody>
      </p:sp>
      <p:sp>
        <p:nvSpPr>
          <p:cNvPr id="50" name="外部工具与交付">
            <a:extLst xmlns:a="http://schemas.openxmlformats.org/drawingml/2006/main">
              <a:ext uri="{FF2B5EF4-FFF2-40B4-BE49-F238E27FC236}">
                <a16:creationId xmlns:a16="http://schemas.microsoft.com/office/drawing/2014/main" id="{52CFFD19-81B3-4D0C-90FA-7C8C9DE4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外部工具与交付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068DEF-B58C-4C64-A165-AAA9926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102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52" name="Windows SMB">
            <a:extLst xmlns:a="http://schemas.openxmlformats.org/drawingml/2006/main">
              <a:ext uri="{FF2B5EF4-FFF2-40B4-BE49-F238E27FC236}">
                <a16:creationId xmlns:a16="http://schemas.microsoft.com/office/drawing/2014/main" id="{68EB568F-9A71-4C16-9F9C-09BADFE4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86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Windows SMB</a:t>
            </a:r>
          </a:p>
        </p:txBody>
      </p:sp>
      <p:sp>
        <p:nvSpPr>
          <p:cNvPr id="53" name="共享目录与盘符">
            <a:extLst xmlns:a="http://schemas.openxmlformats.org/drawingml/2006/main">
              <a:ext uri="{FF2B5EF4-FFF2-40B4-BE49-F238E27FC236}">
                <a16:creationId xmlns:a16="http://schemas.microsoft.com/office/drawing/2014/main" id="{5FE95F00-9D4D-483E-B41E-25635DB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721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共享目录与盘符</a:t>
            </a:r>
          </a:p>
        </p:txBody>
      </p: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92DEFB-CDB8-4DF8-AF27-545D10259A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62150" y="2057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9D2272-6379-4A44-800C-A01799EC26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62150" y="24574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09686B-C39E-4E74-8F8E-F300BBA43C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29527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6D8E01-9792-43AB-88B7-F5B1A4956F6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333750" y="2524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97A4CA-EEFA-4D2E-9034-A932432230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2524125"/>
            <a:ext cx="6000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12D9B-0B2F-4BF9-9840-B2C01EE2BFD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34500" y="24574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36E90E-8556-49D2-9280-E9F1365DA81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34500" y="2057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055B04-32E9-478D-97FA-75D99BFE9E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31623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4F3834-FC9C-40E5-A7A3-4029EA82B3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62150" y="347662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1982E0-1CAE-4867-A9B6-21724633B8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62150" y="3600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D2D563-7637-4DC9-8BA4-3555B39B7C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36004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9E0FCD-51F3-4B09-B8C1-6E77739945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53050" y="3476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B4AEBD-816B-4FF9-AA99-8C4123E72AA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86550" y="40386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266146-0B00-407B-87ED-78860E6C04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86550" y="38385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B60BA4-F946-44B7-89DD-3B22427E6E5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48475" y="360045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32BE0F-102A-492C-9210-8243D3BD97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48475" y="3600450"/>
            <a:ext cx="3000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26F4E6-718F-4B7A-9BB3-B99037CFD4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848850" y="31623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AB9CAA-A580-4E05-9B3A-8557A880CA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48850" y="31623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59DC81F-396D-465A-B268-D8DF4BDD32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3624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C9BC31-620C-411E-9250-0A89EB0DB2C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152650" y="44862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DFC99F-7FE4-4C78-8E9D-27133DC85F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52650" y="4486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B9DEED-EDD3-4F17-8D2D-EE95D1E900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81400" y="4933950"/>
            <a:ext cx="19716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sp>
        <p:nvSpPr>
          <p:cNvPr id="76" name="草稿与修改">
            <a:extLst xmlns:a="http://schemas.openxmlformats.org/drawingml/2006/main">
              <a:ext uri="{FF2B5EF4-FFF2-40B4-BE49-F238E27FC236}">
                <a16:creationId xmlns:a16="http://schemas.microsoft.com/office/drawing/2014/main" id="{94C485BD-2CFB-4F64-AE7D-80C8648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草稿与修改</a:t>
            </a:r>
          </a:p>
        </p:txBody>
      </p: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EECCB3-E756-4561-B96D-291E1B2293E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543800" y="451485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3B511A6-0AE1-4A77-A46E-D3179A2A0E1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467475" y="45148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5926B7-9C47-4C67-8ACE-4FDEF64A5B9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467475" y="43624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sp>
        <p:nvSpPr>
          <p:cNvPr id="80" name="检查反馈">
            <a:extLst xmlns:a="http://schemas.openxmlformats.org/drawingml/2006/main">
              <a:ext uri="{FF2B5EF4-FFF2-40B4-BE49-F238E27FC236}">
                <a16:creationId xmlns:a16="http://schemas.microsoft.com/office/drawing/2014/main" id="{332617FE-A6A8-42A4-9F7D-AB63255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检查反馈</a:t>
            </a:r>
          </a:p>
        </p:txBody>
      </p:sp>
      <p:cxnSp>
        <p:nvCxn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5F5ACC-45B7-4890-908A-394ED4761E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81400" y="50768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D68C4B1-7C4F-4E8E-99C9-01C91A4454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53050" y="50768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411F67-EC17-4BDE-BA3F-2A3EB70AF4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53050" y="5353050"/>
            <a:ext cx="44958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1F228A-609C-4727-8F2D-306E543EB24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848850" y="49339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F72AF1-4BC0-488B-B3F8-4634CC0412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48850" y="49339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4BD9EE-84E7-44FD-BA97-3FA1AB3D5B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48850" y="53530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DAFD94-A4EE-4B67-AC67-E1A3FB84C9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48850" y="5715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1CF27C7-077C-4BD6-9FCE-72E7B35A04C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0075" y="3162300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</a:ln>
        </p:spPr>
      </p:cxnSp>
      <p:cxnSp>
        <p:nvCxn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C08E480-F27E-4869-A8E7-4648B19EB4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0075" y="3162300"/>
            <a:ext cx="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</a:ln>
        </p:spPr>
      </p:cxnSp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39C215-9E48-4E4F-A5BC-39867B87B1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0075" y="535305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39FADF-2CD8-4896-8A3D-01F8518DE21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57350" y="535305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  <a:tailEnd type="triangle" w="sm" len="sm"/>
          </a:ln>
        </p:spPr>
      </p:cxnSp>
      <p:cxnSp>
        <p:nvCxn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E4FE05E-7310-40F9-84B3-E947706DAE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48125" y="43624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  <a:tailEnd type="triangle" w="sm" len="sm"/>
          </a:ln>
        </p:spPr>
      </p:cxnSp>
      <p:cxnSp>
        <p:nvCxn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FFAB1A-24C6-4AAC-8AF5-14442F4F14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34150" y="52387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  <a:tailEnd type="triangle" w="sm" len="sm"/>
          </a:ln>
        </p:spPr>
      </p:cxn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E136DB-DC05-42D1-AEA5-57480E8D67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58250" y="52387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6B60"/>
            </a:solidFill>
            <a:headEnd type="triangle" w="sm" len="sm"/>
            <a:tailEnd type="triangle" w="sm" len="sm"/>
          </a:ln>
        </p:spPr>
      </p:cxnSp>
      <p:sp>
        <p:nvSpPr>
          <p:cNvPr id="95" name="Pi 可嵌入桌面应用，Slash 补齐权限与交付。OpenClaw 早">
            <a:extLst xmlns:a="http://schemas.openxmlformats.org/drawingml/2006/main">
              <a:ext uri="{FF2B5EF4-FFF2-40B4-BE49-F238E27FC236}">
                <a16:creationId xmlns:a16="http://schemas.microsoft.com/office/drawing/2014/main" id="{0705F571-051D-49C9-AA46-3887BA9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1201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Pi 可嵌入桌面应用，Slash 补齐权限与交付。OpenClaw 早期也采用过 Pi。</a:t>
            </a:r>
          </a:p>
        </p:txBody>
      </p:sp>
    </p:spTree>
    <p:extLst>
      <p:ext uri="{BB962C8B-B14F-4D97-AF65-F5344CB8AC3E}">
        <p14:creationId xmlns:p14="http://schemas.microsoft.com/office/powerpoint/2010/main" val="1896354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ash">
            <a:extLst xmlns:a="http://schemas.openxmlformats.org/drawingml/2006/main">
              <a:ext uri="{FF2B5EF4-FFF2-40B4-BE49-F238E27FC236}">
                <a16:creationId xmlns:a16="http://schemas.microsoft.com/office/drawing/2014/main" id="{E56AFC65-F9BB-4244-8C9C-F9E4387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模型配置与技能导入">
            <a:extLst xmlns:a="http://schemas.openxmlformats.org/drawingml/2006/main">
              <a:ext uri="{FF2B5EF4-FFF2-40B4-BE49-F238E27FC236}">
                <a16:creationId xmlns:a16="http://schemas.microsoft.com/office/drawing/2014/main" id="{DC6B6EF3-4E93-4830-BB8D-DAC321F8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模型配置与技能导入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EAA4F-A1BB-46B4-9795-BC0F8FFC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A4B90E6A-ED5A-418D-A872-A0982D84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2 / 05">
            <a:extLst xmlns:a="http://schemas.openxmlformats.org/drawingml/2006/main">
              <a:ext uri="{FF2B5EF4-FFF2-40B4-BE49-F238E27FC236}">
                <a16:creationId xmlns:a16="http://schemas.microsoft.com/office/drawing/2014/main" id="{0B869607-50DB-4DFC-8C6E-D8DCE84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  <p:sp>
        <p:nvSpPr>
          <p:cNvPr id="6" name="官方 API、供应商与兼容中转站">
            <a:extLst xmlns:a="http://schemas.openxmlformats.org/drawingml/2006/main">
              <a:ext uri="{FF2B5EF4-FFF2-40B4-BE49-F238E27FC236}">
                <a16:creationId xmlns:a16="http://schemas.microsoft.com/office/drawing/2014/main" id="{4D8C3E22-10F3-4848-8D62-2D53B3E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57325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官方 API、供应商与兼容中转站</a:t>
            </a:r>
          </a:p>
        </p:txBody>
      </p:sp>
      <p:sp>
        <p:nvSpPr>
          <p:cNvPr id="7" name="OpenAI Chat Completions / OpenAI Re">
            <a:extLst xmlns:a="http://schemas.openxmlformats.org/drawingml/2006/main">
              <a:ext uri="{FF2B5EF4-FFF2-40B4-BE49-F238E27FC236}">
                <a16:creationId xmlns:a16="http://schemas.microsoft.com/office/drawing/2014/main" id="{CA189236-E76C-4220-B787-FFC5AC4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1120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OpenAI Chat Completions / OpenAI Responses / Anthropic Messages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FB29A-4957-48C1-8A42-893DFB320B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8e265716442b6"/>
          <a:srcRect xmlns:a="http://schemas.openxmlformats.org/drawingml/2006/main" l="28000" t="25700" r="28000" b="39000"/>
          <a:stretch xmlns:a="http://schemas.openxmlformats.org/drawingml/2006/main"/>
        </p:blipFill>
        <p:spPr>
          <a:xfrm xmlns:a="http://schemas.openxmlformats.org/drawingml/2006/main">
            <a:off x="495300" y="2371725"/>
            <a:ext cx="7124700" cy="3181350"/>
          </a:xfrm>
          <a:prstGeom xmlns:a="http://schemas.openxmlformats.org/drawingml/2006/main" prst="rect">
            <a:avLst/>
          </a:prstGeom>
        </p:spPr>
      </p:pic>
      <p:sp>
        <p:nvSpPr>
          <p:cNvPr id="9" name="Skills">
            <a:extLst xmlns:a="http://schemas.openxmlformats.org/drawingml/2006/main">
              <a:ext uri="{FF2B5EF4-FFF2-40B4-BE49-F238E27FC236}">
                <a16:creationId xmlns:a16="http://schemas.microsoft.com/office/drawing/2014/main" id="{0E2BE54B-2AAB-4291-B56E-9000129A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3829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EF3A8-CB8F-4F85-95A6-EAB5F9A8D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e9269406a49db"/>
          <a:srcRect xmlns:a="http://schemas.openxmlformats.org/drawingml/2006/main" l="29140" t="41670" r="53690" b="40000"/>
          <a:stretch xmlns:a="http://schemas.openxmlformats.org/drawingml/2006/main"/>
        </p:blipFill>
        <p:spPr>
          <a:xfrm xmlns:a="http://schemas.openxmlformats.org/drawingml/2006/main">
            <a:off x="7867650" y="2914650"/>
            <a:ext cx="3829050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本地文件夹或 GitHub 导入。">
            <a:extLst xmlns:a="http://schemas.openxmlformats.org/drawingml/2006/main">
              <a:ext uri="{FF2B5EF4-FFF2-40B4-BE49-F238E27FC236}">
                <a16:creationId xmlns:a16="http://schemas.microsoft.com/office/drawing/2014/main" id="{8B8D7192-F052-4547-8A56-48866E07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10200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本地文件夹或 GitHub 导入。</a:t>
            </a:r>
          </a:p>
        </p:txBody>
      </p:sp>
      <p:sp>
        <p:nvSpPr>
          <p:cNvPr id="12" name="Skill Creator 可在外部创建，&#10;再导入 Slash。">
            <a:extLst xmlns:a="http://schemas.openxmlformats.org/drawingml/2006/main">
              <a:ext uri="{FF2B5EF4-FFF2-40B4-BE49-F238E27FC236}">
                <a16:creationId xmlns:a16="http://schemas.microsoft.com/office/drawing/2014/main" id="{44EA3C37-AB62-4169-AE08-ECC9B193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62625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Skill Creator 可在外部创建，</a:t>
            </a:r>
          </a:p>
          <a:p xmlns:a="http://schemas.openxmlformats.org/drawingml/2006/main">
            <a: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再导入 Slash。</a:t>
            </a:r>
          </a:p>
        </p:txBody>
      </p:sp>
      <p:sp>
        <p:nvSpPr>
          <p:cNvPr id="13" name="选择协议，填写 API 地址、密钥和模型 ID。">
            <a:extLst xmlns:a="http://schemas.openxmlformats.org/drawingml/2006/main">
              <a:ext uri="{FF2B5EF4-FFF2-40B4-BE49-F238E27FC236}">
                <a16:creationId xmlns:a16="http://schemas.microsoft.com/office/drawing/2014/main" id="{981708B1-FCDE-494A-B2F3-26FE0691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86425"/>
            <a:ext cx="712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选择协议，填写 API 地址、密钥和模型 ID。</a:t>
            </a:r>
          </a:p>
        </p:txBody>
      </p:sp>
      <p:sp>
        <p:nvSpPr>
          <p:cNvPr id="14" name="当前未接入模型官方订阅登录。">
            <a:extLst xmlns:a="http://schemas.openxmlformats.org/drawingml/2006/main">
              <a:ext uri="{FF2B5EF4-FFF2-40B4-BE49-F238E27FC236}">
                <a16:creationId xmlns:a16="http://schemas.microsoft.com/office/drawing/2014/main" id="{9EBD2A40-ADAD-428B-A349-51643D05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712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当前未接入模型官方订阅登录。</a:t>
            </a:r>
          </a:p>
        </p:txBody>
      </p:sp>
    </p:spTree>
    <p:extLst>
      <p:ext uri="{BB962C8B-B14F-4D97-AF65-F5344CB8AC3E}">
        <p14:creationId xmlns:p14="http://schemas.microsoft.com/office/powerpoint/2010/main" val="834546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ash">
            <a:extLst xmlns:a="http://schemas.openxmlformats.org/drawingml/2006/main">
              <a:ext uri="{FF2B5EF4-FFF2-40B4-BE49-F238E27FC236}">
                <a16:creationId xmlns:a16="http://schemas.microsoft.com/office/drawing/2014/main" id="{A2FEBE8B-DA41-4D7A-A631-9D1D7D4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Plan、Build 与斜杠指令">
            <a:extLst xmlns:a="http://schemas.openxmlformats.org/drawingml/2006/main">
              <a:ext uri="{FF2B5EF4-FFF2-40B4-BE49-F238E27FC236}">
                <a16:creationId xmlns:a16="http://schemas.microsoft.com/office/drawing/2014/main" id="{88FE321C-CBB0-4933-BE68-368F2FF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Plan、Build 与斜杠指令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81F90-DC1D-49E4-A489-D0E7544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0AB66BC6-0461-4BF9-BA1B-FF5A8270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3 / 05">
            <a:extLst xmlns:a="http://schemas.openxmlformats.org/drawingml/2006/main">
              <a:ext uri="{FF2B5EF4-FFF2-40B4-BE49-F238E27FC236}">
                <a16:creationId xmlns:a16="http://schemas.microsoft.com/office/drawing/2014/main" id="{53C2C06C-7CC9-4069-8BB2-4C0A8D5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  <p:sp>
        <p:nvSpPr>
          <p:cNvPr id="6" name="Plan 先研究与规划，Build 执行任务并形成成果。">
            <a:extLst xmlns:a="http://schemas.openxmlformats.org/drawingml/2006/main">
              <a:ext uri="{FF2B5EF4-FFF2-40B4-BE49-F238E27FC236}">
                <a16:creationId xmlns:a16="http://schemas.microsoft.com/office/drawing/2014/main" id="{110A5FC8-5EEC-4B22-90EF-AF10A5FB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Plan 先研究与规划，Build 执行任务并形成成果。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4E43E-D749-44DD-B06A-B019EE059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872df574846e5"/>
          <a:srcRect xmlns:a="http://schemas.openxmlformats.org/drawingml/2006/main" l="32800" t="44000" r="13700" b="2800"/>
          <a:stretch xmlns:a="http://schemas.openxmlformats.org/drawingml/2006/main"/>
        </p:blipFill>
        <p:spPr>
          <a:xfrm xmlns:a="http://schemas.openxmlformats.org/drawingml/2006/main">
            <a:off x="495300" y="1971675"/>
            <a:ext cx="6477000" cy="3781425"/>
          </a:xfrm>
          <a:prstGeom xmlns:a="http://schemas.openxmlformats.org/drawingml/2006/main" prst="rect">
            <a:avLst/>
          </a:prstGeom>
        </p:spPr>
      </p:pic>
      <p:sp>
        <p:nvSpPr>
          <p:cNvPr id="8" name="权限决定可访问的范围">
            <a:extLst xmlns:a="http://schemas.openxmlformats.org/drawingml/2006/main">
              <a:ext uri="{FF2B5EF4-FFF2-40B4-BE49-F238E27FC236}">
                <a16:creationId xmlns:a16="http://schemas.microsoft.com/office/drawing/2014/main" id="{EBB5231F-DA5F-4E5B-9A53-9A05EB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71675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权限决定可访问的范围</a:t>
            </a:r>
          </a:p>
        </p:txBody>
      </p:sp>
      <p:sp>
        <p:nvSpPr>
          <p:cNvPr id="9" name="标准权限">
            <a:extLst xmlns:a="http://schemas.openxmlformats.org/drawingml/2006/main">
              <a:ext uri="{FF2B5EF4-FFF2-40B4-BE49-F238E27FC236}">
                <a16:creationId xmlns:a16="http://schemas.microsoft.com/office/drawing/2014/main" id="{70E8755F-18CE-4B72-91AC-0CE9BA4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00325"/>
            <a:ext cx="425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标准权限</a:t>
            </a:r>
          </a:p>
        </p:txBody>
      </p:sp>
      <p:sp>
        <p:nvSpPr>
          <p:cNvPr id="10" name="在已授权范围内读取与操作。">
            <a:extLst xmlns:a="http://schemas.openxmlformats.org/drawingml/2006/main">
              <a:ext uri="{FF2B5EF4-FFF2-40B4-BE49-F238E27FC236}">
                <a16:creationId xmlns:a16="http://schemas.microsoft.com/office/drawing/2014/main" id="{4DE3AD0C-B404-4430-90AF-42B65A59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990850"/>
            <a:ext cx="4257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在已授权范围内读取与操作。</a:t>
            </a:r>
          </a:p>
        </p:txBody>
      </p:sp>
      <p:sp>
        <p:nvSpPr>
          <p:cNvPr id="11" name="自动接受">
            <a:extLst xmlns:a="http://schemas.openxmlformats.org/drawingml/2006/main">
              <a:ext uri="{FF2B5EF4-FFF2-40B4-BE49-F238E27FC236}">
                <a16:creationId xmlns:a16="http://schemas.microsoft.com/office/drawing/2014/main" id="{D6C96836-00BD-4198-9576-F3FFDBE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52825"/>
            <a:ext cx="425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自动接受</a:t>
            </a:r>
          </a:p>
        </p:txBody>
      </p:sp>
      <p:sp>
        <p:nvSpPr>
          <p:cNvPr id="12" name="成果编辑自动通过。">
            <a:extLst xmlns:a="http://schemas.openxmlformats.org/drawingml/2006/main">
              <a:ext uri="{FF2B5EF4-FFF2-40B4-BE49-F238E27FC236}">
                <a16:creationId xmlns:a16="http://schemas.microsoft.com/office/drawing/2014/main" id="{41897BC5-8B23-4590-B414-B4043E7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943350"/>
            <a:ext cx="4257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成果编辑自动通过。</a:t>
            </a:r>
          </a:p>
        </p:txBody>
      </p:sp>
      <p:sp>
        <p:nvSpPr>
          <p:cNvPr id="13" name="完全访问">
            <a:extLst xmlns:a="http://schemas.openxmlformats.org/drawingml/2006/main">
              <a:ext uri="{FF2B5EF4-FFF2-40B4-BE49-F238E27FC236}">
                <a16:creationId xmlns:a16="http://schemas.microsoft.com/office/drawing/2014/main" id="{E4ECE39C-65D7-42FE-BC1E-A40C315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505325"/>
            <a:ext cx="425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完全访问</a:t>
            </a:r>
          </a:p>
        </p:txBody>
      </p:sp>
      <p:sp>
        <p:nvSpPr>
          <p:cNvPr id="14" name="可读取项目外资料。">
            <a:extLst xmlns:a="http://schemas.openxmlformats.org/drawingml/2006/main">
              <a:ext uri="{FF2B5EF4-FFF2-40B4-BE49-F238E27FC236}">
                <a16:creationId xmlns:a16="http://schemas.microsoft.com/office/drawing/2014/main" id="{79D148BD-3AAF-4E0F-BB58-C07EAABC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895850"/>
            <a:ext cx="4257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可读取项目外资料。</a:t>
            </a:r>
          </a:p>
        </p:txBody>
      </p:sp>
      <p:sp>
        <p:nvSpPr>
          <p:cNvPr id="15" name="输入 /，快速选择任务与已启用的技能。">
            <a:extLst xmlns:a="http://schemas.openxmlformats.org/drawingml/2006/main">
              <a:ext uri="{FF2B5EF4-FFF2-40B4-BE49-F238E27FC236}">
                <a16:creationId xmlns:a16="http://schemas.microsoft.com/office/drawing/2014/main" id="{B1077876-6C65-42A6-A1B4-8C8A3D60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输入 /，快速选择任务与已启用的技能。</a:t>
            </a:r>
          </a:p>
        </p:txBody>
      </p:sp>
    </p:spTree>
    <p:extLst>
      <p:ext uri="{BB962C8B-B14F-4D97-AF65-F5344CB8AC3E}">
        <p14:creationId xmlns:p14="http://schemas.microsoft.com/office/powerpoint/2010/main" val="1404171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sh">
            <a:extLst xmlns:a="http://schemas.openxmlformats.org/drawingml/2006/main">
              <a:ext uri="{FF2B5EF4-FFF2-40B4-BE49-F238E27FC236}">
                <a16:creationId xmlns:a16="http://schemas.microsoft.com/office/drawing/2014/main" id="{B49FBED8-5CE4-4730-A8E8-8B9C232B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右侧查看资料与成果，共享同一份原型">
            <a:extLst xmlns:a="http://schemas.openxmlformats.org/drawingml/2006/main">
              <a:ext uri="{FF2B5EF4-FFF2-40B4-BE49-F238E27FC236}">
                <a16:creationId xmlns:a16="http://schemas.microsoft.com/office/drawing/2014/main" id="{5C683396-8225-46F5-ADF2-4C3A796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右侧查看资料与成果，共享同一份原型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9554E-F819-4E60-A78C-A0D83BA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C612CBB6-2D0D-4586-9707-B4CCE5A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4 / 05">
            <a:extLst xmlns:a="http://schemas.openxmlformats.org/drawingml/2006/main">
              <a:ext uri="{FF2B5EF4-FFF2-40B4-BE49-F238E27FC236}">
                <a16:creationId xmlns:a16="http://schemas.microsoft.com/office/drawing/2014/main" id="{00CDF035-1407-420B-9379-2651B77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C05C4-6B91-4130-96CD-0F125A677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d5acee3b34fce"/>
          <a:srcRect xmlns:a="http://schemas.openxmlformats.org/drawingml/2006/main" l="21400" t="13200" r="1400" b="44600"/>
          <a:stretch xmlns:a="http://schemas.openxmlformats.org/drawingml/2006/main"/>
        </p:blipFill>
        <p:spPr>
          <a:xfrm xmlns:a="http://schemas.openxmlformats.org/drawingml/2006/main">
            <a:off x="495300" y="1524000"/>
            <a:ext cx="6915150" cy="21336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E4B9-2592-4BB3-9102-F755077B9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bef90bd8c4ad4"/>
          <a:srcRect xmlns:a="http://schemas.openxmlformats.org/drawingml/2006/main" l="82300" t="5000" r="0" b="61000"/>
          <a:stretch xmlns:a="http://schemas.openxmlformats.org/drawingml/2006/main"/>
        </p:blipFill>
        <p:spPr>
          <a:xfrm xmlns:a="http://schemas.openxmlformats.org/drawingml/2006/main">
            <a:off x="8248650" y="1524000"/>
            <a:ext cx="3448050" cy="3648075"/>
          </a:xfrm>
          <a:prstGeom xmlns:a="http://schemas.openxmlformats.org/drawingml/2006/main" prst="rect">
            <a:avLst/>
          </a:prstGeom>
        </p:spPr>
      </p:pic>
      <p:sp>
        <p:nvSpPr>
          <p:cNvPr id="8" name="SMB 指向同一份共享目录">
            <a:extLst xmlns:a="http://schemas.openxmlformats.org/drawingml/2006/main">
              <a:ext uri="{FF2B5EF4-FFF2-40B4-BE49-F238E27FC236}">
                <a16:creationId xmlns:a16="http://schemas.microsoft.com/office/drawing/2014/main" id="{ACAF1E31-D058-47C0-A281-8F54080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SMB 指向同一份共享目录</a:t>
            </a:r>
          </a:p>
        </p:txBody>
      </p:sp>
      <p:sp>
        <p:nvSpPr>
          <p:cNvPr id="9" name="同事通过 Windows 盘符访问，&#10;减少复制原型与人工合版。">
            <a:extLst xmlns:a="http://schemas.openxmlformats.org/drawingml/2006/main">
              <a:ext uri="{FF2B5EF4-FFF2-40B4-BE49-F238E27FC236}">
                <a16:creationId xmlns:a16="http://schemas.microsoft.com/office/drawing/2014/main" id="{984C6C89-1777-4BB5-B895-B3BB0D1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691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同事通过 Windows 盘符访问，</a:t>
            </a:r>
          </a:p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减少复制原型与人工合版。</a:t>
            </a:r>
          </a:p>
        </p:txBody>
      </p:sp>
      <p:sp>
        <p:nvSpPr>
          <p:cNvPr id="10" name="双机使用仍待实测，当前不支持实时协同编辑。">
            <a:extLst xmlns:a="http://schemas.openxmlformats.org/drawingml/2006/main">
              <a:ext uri="{FF2B5EF4-FFF2-40B4-BE49-F238E27FC236}">
                <a16:creationId xmlns:a16="http://schemas.microsoft.com/office/drawing/2014/main" id="{D5AA2695-F146-4AD4-B84D-39C6178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双机使用仍待实测，当前不支持实时协同编辑。</a:t>
            </a:r>
          </a:p>
        </p:txBody>
      </p:sp>
      <p:sp>
        <p:nvSpPr>
          <p:cNvPr id="11" name="右侧的资料与成果">
            <a:extLst xmlns:a="http://schemas.openxmlformats.org/drawingml/2006/main">
              <a:ext uri="{FF2B5EF4-FFF2-40B4-BE49-F238E27FC236}">
                <a16:creationId xmlns:a16="http://schemas.microsoft.com/office/drawing/2014/main" id="{7695FAD3-6A37-4AC6-9433-B68DB625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右侧的资料与成果</a:t>
            </a:r>
          </a:p>
        </p:txBody>
      </p:sp>
      <p:sp>
        <p:nvSpPr>
          <p:cNvPr id="12" name="查看、引用和打开文件。&#10;修改仍从会话发起。">
            <a:extLst xmlns:a="http://schemas.openxmlformats.org/drawingml/2006/main">
              <a:ext uri="{FF2B5EF4-FFF2-40B4-BE49-F238E27FC236}">
                <a16:creationId xmlns:a16="http://schemas.microsoft.com/office/drawing/2014/main" id="{EF3CC7ED-64B5-48B9-BD20-1210E3DD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245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查看、引用和打开文件。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修改仍从会话发起。</a:t>
            </a:r>
          </a:p>
        </p:txBody>
      </p:sp>
    </p:spTree>
    <p:extLst>
      <p:ext uri="{BB962C8B-B14F-4D97-AF65-F5344CB8AC3E}">
        <p14:creationId xmlns:p14="http://schemas.microsoft.com/office/powerpoint/2010/main" val="119437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ash">
            <a:extLst xmlns:a="http://schemas.openxmlformats.org/drawingml/2006/main">
              <a:ext uri="{FF2B5EF4-FFF2-40B4-BE49-F238E27FC236}">
                <a16:creationId xmlns:a16="http://schemas.microsoft.com/office/drawing/2014/main" id="{3A16DA3B-7959-4834-B12F-7197A81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一次真实的简单 PRD 生成">
            <a:extLst xmlns:a="http://schemas.openxmlformats.org/drawingml/2006/main">
              <a:ext uri="{FF2B5EF4-FFF2-40B4-BE49-F238E27FC236}">
                <a16:creationId xmlns:a16="http://schemas.microsoft.com/office/drawing/2014/main" id="{02FA8CC3-9836-46CD-B687-86BE75E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一次真实的简单 PRD 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DCAA-7F8A-43CD-BCBF-3475AD4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7C425155-FCF7-4B44-A3F3-BF76AA87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5 / 05">
            <a:extLst xmlns:a="http://schemas.openxmlformats.org/drawingml/2006/main">
              <a:ext uri="{FF2B5EF4-FFF2-40B4-BE49-F238E27FC236}">
                <a16:creationId xmlns:a16="http://schemas.microsoft.com/office/drawing/2014/main" id="{A0C5B7EB-0D65-451B-9352-AD801AC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C1CC6-F0C5-40F8-8B23-CD7C2251F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205df30564fd7"/>
          <a:srcRect xmlns:a="http://schemas.openxmlformats.org/drawingml/2006/main" l="20900" t="4500" r="17300" b="38000"/>
          <a:stretch xmlns:a="http://schemas.openxmlformats.org/drawingml/2006/main"/>
        </p:blipFill>
        <p:spPr>
          <a:xfrm xmlns:a="http://schemas.openxmlformats.org/drawingml/2006/main">
            <a:off x="495300" y="1524000"/>
            <a:ext cx="7524750" cy="3848100"/>
          </a:xfrm>
          <a:prstGeom xmlns:a="http://schemas.openxmlformats.org/drawingml/2006/main" prst="rect">
            <a:avLst/>
          </a:prstGeom>
        </p:spPr>
      </p:pic>
      <p:sp>
        <p:nvSpPr>
          <p:cNvPr id="7" name="预约管理 PRD">
            <a:extLst xmlns:a="http://schemas.openxmlformats.org/drawingml/2006/main">
              <a:ext uri="{FF2B5EF4-FFF2-40B4-BE49-F238E27FC236}">
                <a16:creationId xmlns:a16="http://schemas.microsoft.com/office/drawing/2014/main" id="{73DD7D67-F88C-4D0A-B084-91A96625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预约管理 PRD</a:t>
            </a:r>
          </a:p>
        </p:txBody>
      </p:sp>
      <p:sp>
        <p:nvSpPr>
          <p:cNvPr id="8" name="读取合成需求，生成草稿。&#10;约 4 分 28 秒完成任务，&#10;期间自动修正">
            <a:extLst xmlns:a="http://schemas.openxmlformats.org/drawingml/2006/main">
              <a:ext uri="{FF2B5EF4-FFF2-40B4-BE49-F238E27FC236}">
                <a16:creationId xmlns:a16="http://schemas.microsoft.com/office/drawing/2014/main" id="{74D3E18C-B1F5-47DE-B5B9-9E00411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3276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读取合成需求，生成草稿。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约 4 分 28 秒完成任务，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期间自动修正 1 轮。</a:t>
            </a:r>
          </a:p>
        </p:txBody>
      </p:sp>
      <p:sp>
        <p:nvSpPr>
          <p:cNvPr id="9" name="自动检查通过。&#10;业务覆盖仍未验证，&#10;草稿还未保存到项目。">
            <a:extLst xmlns:a="http://schemas.openxmlformats.org/drawingml/2006/main">
              <a:ext uri="{FF2B5EF4-FFF2-40B4-BE49-F238E27FC236}">
                <a16:creationId xmlns:a16="http://schemas.microsoft.com/office/drawing/2014/main" id="{AC747F62-58B6-4904-A9F9-80A5459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24275"/>
            <a:ext cx="3276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自动检查通过。</a:t>
            </a:r>
          </a:p>
          <a:p xmlns:a="http://schemas.openxmlformats.org/drawingml/2006/main">
            <a: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业务覆盖仍未验证，</a:t>
            </a:r>
          </a:p>
          <a:p xmlns:a="http://schemas.openxmlformats.org/drawingml/2006/main">
            <a:pPr>
              <a:def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草稿还未保存到项目。</a:t>
            </a:r>
          </a:p>
        </p:txBody>
      </p:sp>
      <p:sp>
        <p:nvSpPr>
          <p:cNvPr id="10" name="任务已完成，成果仍是待应用草稿。">
            <a:extLst xmlns:a="http://schemas.openxmlformats.org/drawingml/2006/main">
              <a:ext uri="{FF2B5EF4-FFF2-40B4-BE49-F238E27FC236}">
                <a16:creationId xmlns:a16="http://schemas.microsoft.com/office/drawing/2014/main" id="{701C56B5-3F2D-457D-966E-CB0B0EC5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120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任务已完成，成果仍是待应用草稿。</a:t>
            </a:r>
          </a:p>
        </p:txBody>
      </p:sp>
      <p:sp>
        <p:nvSpPr>
          <p:cNvPr id="11" name="复杂 PRD 需要逐项核对，当前稳定性与成果质量还未达到生产级。">
            <a:extLst xmlns:a="http://schemas.openxmlformats.org/drawingml/2006/main">
              <a:ext uri="{FF2B5EF4-FFF2-40B4-BE49-F238E27FC236}">
                <a16:creationId xmlns:a16="http://schemas.microsoft.com/office/drawing/2014/main" id="{F12F1760-C48A-400C-A3C7-50D3A9E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027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复杂 PRD 需要逐项核对，当前稳定性与成果质量还未达到生产级。</a:t>
            </a:r>
          </a:p>
        </p:txBody>
      </p:sp>
    </p:spTree>
    <p:extLst>
      <p:ext uri="{BB962C8B-B14F-4D97-AF65-F5344CB8AC3E}">
        <p14:creationId xmlns:p14="http://schemas.microsoft.com/office/powerpoint/2010/main" val="505019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2026-10-12T01:25:01.0440000Z</dcterms:created>
  <dcterms:modified xsi:type="dcterms:W3CDTF">2026-10-12T01:25:01.0450000Z</dcterms:modified>
</coreProperties>
</file>