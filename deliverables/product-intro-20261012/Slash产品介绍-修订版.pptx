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132707ab8442a9" /><Relationship Type="http://schemas.openxmlformats.org/officeDocument/2006/relationships/extended-properties" Target="/docProps/app.xml" Id="R908ffe10acec4bcb" /><Relationship Type="http://schemas.openxmlformats.org/officeDocument/2006/relationships/officeDocument" Target="/ppt/presentation.xml" Id="R75f633adb8154d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877118c5c499c"/>
  </p:sldMasterIdLst>
  <p:notesMasterIdLst>
    <p:notesMasterId xmlns:r="http://schemas.openxmlformats.org/officeDocument/2006/relationships" r:id="R26afb8b822be4478"/>
  </p:notesMasterIdLst>
  <p:sldIdLst>
    <p:sldId xmlns:r="http://schemas.openxmlformats.org/officeDocument/2006/relationships" id="256" r:id="R8213933d122045d4"/>
    <p:sldId xmlns:r="http://schemas.openxmlformats.org/officeDocument/2006/relationships" id="257" r:id="Rdbc638090b1c4b53"/>
    <p:sldId xmlns:r="http://schemas.openxmlformats.org/officeDocument/2006/relationships" id="258" r:id="R353fee14fb674a94"/>
    <p:sldId xmlns:r="http://schemas.openxmlformats.org/officeDocument/2006/relationships" id="259" r:id="R87c5107e89ca4a7a"/>
    <p:sldId xmlns:r="http://schemas.openxmlformats.org/officeDocument/2006/relationships" id="260" r:id="R72be1da7628a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916fddc9244401" /><Relationship Type="http://schemas.openxmlformats.org/officeDocument/2006/relationships/slideMaster" Target="/ppt/slideMasters/slideMaster1.xml" Id="R2c6877118c5c499c" /><Relationship Type="http://schemas.openxmlformats.org/officeDocument/2006/relationships/notesMaster" Target="/ppt/notesMasters/notesMaster1.xml" Id="R26afb8b822be4478" /><Relationship Type="http://schemas.openxmlformats.org/officeDocument/2006/relationships/presProps" Target="/ppt/presProps.xml" Id="R6e116781ec874140" /><Relationship Type="http://schemas.openxmlformats.org/officeDocument/2006/relationships/tableStyles" Target="/ppt/tableStyles.xml" Id="R2c71b4ffb55743f6" /><Relationship Type="http://schemas.openxmlformats.org/officeDocument/2006/relationships/slide" Target="/ppt/slides/slide1.xml" Id="R8213933d122045d4" /><Relationship Type="http://schemas.openxmlformats.org/officeDocument/2006/relationships/slide" Target="/ppt/slides/slide2.xml" Id="Rdbc638090b1c4b53" /><Relationship Type="http://schemas.openxmlformats.org/officeDocument/2006/relationships/slide" Target="/ppt/slides/slide3.xml" Id="R353fee14fb674a94" /><Relationship Type="http://schemas.openxmlformats.org/officeDocument/2006/relationships/slide" Target="/ppt/slides/slide4.xml" Id="R87c5107e89ca4a7a" /><Relationship Type="http://schemas.openxmlformats.org/officeDocument/2006/relationships/slide" Target="/ppt/slides/slide5.xml" Id="R72be1da7628a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93a731c63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06e249099b441f" /><Relationship Type="http://schemas.openxmlformats.org/officeDocument/2006/relationships/notesMaster" Target="/ppt/notesMasters/notesMaster1.xml" Id="R731b1fc8601b44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bfe221fee14dd6" /><Relationship Type="http://schemas.openxmlformats.org/officeDocument/2006/relationships/notesMaster" Target="/ppt/notesMasters/notesMaster1.xml" Id="Rceac21130e5840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bd4866db6d47fb" /><Relationship Type="http://schemas.openxmlformats.org/officeDocument/2006/relationships/notesMaster" Target="/ppt/notesMasters/notesMaster1.xml" Id="R700edcf9619a42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7f61af74247de" /><Relationship Type="http://schemas.openxmlformats.org/officeDocument/2006/relationships/notesMaster" Target="/ppt/notesMasters/notesMaster1.xml" Id="Rdf0b14c7a1d543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3a84e55024046" /><Relationship Type="http://schemas.openxmlformats.org/officeDocument/2006/relationships/notesMaster" Target="/ppt/notesMasters/notesMaster1.xml" Id="Ra22e7343daee41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架构按用户提供2026-10-09图的React/Preload/Service/上下文/Pi/网关/质量分层重排，缩编外部系统及底部存储。模型API、MCP/官方CLI及Windows SMB为外部系统；SQLite保存运行状态，Pi会话、项目文件、草稿和快照留在本机，HTML预览与截图受控。云知识库及向量退出当前产品，没有恢复。来源：main/agent.ts createAgentSession/session.prompt及工具注册，main/service.ts prepareRunWorkflow/检查有限修正/草稿应用，main/pm-workflows.ts来源版本核对。Workflow是宿主业务边界，与Pi自主循环结合，不是固定链条代替Agent。Pi SDK0.86.1。四包真实适配：pi-web-access0.37.0 stdio MCP按需启动DuckDuckGo网页研究；pi-mcp-adapter5.1.0 host-managed MCP复用；pi-subagents0.76.1独立只读Pi会话、父权限/取消与预算；pi-memory0.4.2独立worker、项目隔离候选备忘及来源。版本来源package.json及main/pi-packages.ts。其他包pi-lens4.4.0仅Build代码草稿审查、@plannotator/pi-extension0.28.8仅Plan审阅、Langfuse0.1.2默认关闭。现有本机测试不代表所有云端复杂任务生产稳定。受控子代理不自动扩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来源src/SettingsModal.tsx API地址/密钥/模型ID和三协议表单；main/model-runtime.ts InMemoryCredentialStore/registerProvider/setRuntimeApiKey，main/main.ts models IPC仅调用本机modelSettings.list；main/model-thinking.ts /models/{id}只用于已知ID能力元数据，不是上游完整列表发现。当前未实现模型官方订阅OAuth，MCP OAuth不可当作模型登录。页内明确待接入。已支持为配置与协议适配，不表示所有供应商或中转均验收。</a:t>
            </a:r>
          </a:p>
          <a:p xmlns:a="http://schemas.openxmlformats.org/drawingml/2006/main">
            <a:br/>
            <a:r>
              <a:t>截图：assets/03-model-connection-fields.png；SHA256 c33c89ed5ae3f36916aa315b548088032581dffeb6ec057cd9c938cc3d833e8f；baseline采集当前built独立Electron profile；真实添加模型表单，API密钥为空，未触发新模型测试；裁切仅放大配置字段。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Skills来源src/GlobalSkillsSettings.tsx importFolder/installGithub、Pi解析与宿主启用控制。不虚构应用内skill-creator按钮。MCP来源src/ConnectionsPanel.tsx、shared/mcp-connections.ts官方预设及HTTP/stdio配置、main/mcp-host.ts和main/mcp-oauth.ts。Supabase/Vercel预设是独立工具连接，未恢复退役云知识库。截图15复制自真实独立Electron profile本机MCP协议验证official-presets.png，该原测试result.json status passed，但realOAuthExecuted=false/cloudExecuted=false。截图仅证明真实表单和配置界面，不代表官方云账号已登录或操作完成。</a:t>
            </a:r>
          </a:p>
          <a:p xmlns:a="http://schemas.openxmlformats.org/drawingml/2006/main">
            <a:br/>
            <a:r>
              <a:t>截图：assets/05-skills-local-github.png；SHA256 ea311f363e1c062398f238e9dd1859539a1212a9ac46aca43ae760820bbfc1f4；baseline采集当前built独立Electron profile；真实添加技能表单，未安装技能到用户环境，未虚构内置Skill Creator。</a:t>
            </a:r>
          </a:p>
          <a:p xmlns:a="http://schemas.openxmlformats.org/drawingml/2006/main">
            <a:br/>
            <a:r>
              <a:t>截图：assets/15-mcp-official-presets.png；SHA256 6d97cf4879d71257614daf1b329f11ea5c032c956c2c967e6b837eba44f06fc0；真实独立Electron profile官方MCP预设表单，历史本机协议测试；未登录真实账号或调用云端。原图.test-data/mcp-ui-1791469886291/official-presets.png。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haring-network-drive.md；真实右侧详情/成果/文件与共享文件夹设置截图。SMB指向原共享目录，不复制整个目录；接收者可在Windows资源管理器看到映射盘符。2026-10-12用户反馈已经本地试验，可与别人同时编辑共享目录内原型，按用户实测更新此前未验证叙述；本代理未重复双机验收。该反馈不证明实时光标、自动合并或任意编辑器无冲突。应用仍通过ChangeSet、版本核对与共享资源锁保护提交，冲突保留草稿。会话发起成果编辑，资源视图用于查看、选择、引用和定位。</a:t>
            </a:r>
          </a:p>
          <a:p xmlns:a="http://schemas.openxmlformats.org/drawingml/2006/main">
            <a:br/>
            <a:r>
              <a:t>截图：assets/09-smb-sharing.png；SHA256 cd6b84714c9671fc1a3478cc4b4085d4ee33eac883487dff697674237d5f4e7c；真实共享管理入口；未创建共享或连接网络盘，双机未验。</a:t>
            </a:r>
          </a:p>
          <a:p xmlns:a="http://schemas.openxmlformats.org/drawingml/2006/main">
            <a:br/>
            <a:r>
              <a:t>截图：assets/11-right-source-files.png；SHA256 b4dc03a5e22f956bc2e1d41ba561d8d5834391d3f797d1fbe04f6b58d787f36a；真实合成需求文件与右侧文件栏；仅裁切侧栏，当时任务检查中。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真实任务来源assets/assets-manifest.json correctedRun及FACTS-AND-LIMITS.md：Run939fad97-92ee-488a-bdc3-dbabfd0450c8，elapsedMs268281，status succeeded，1轮自动修正，automaticReportStatus passed，businessCoverage unverified，ChangeSet f5693e6f-26fd-4e03-9afc-cdba38e45744，draftApplied false。14-prd-final-preview.png真实结束后重新打开草稿。合成预约需求，无私密用户PRD。初次错误挂载任务未产ChangeSet，不计成果成功。图与业务结果未人工替模型改写。右侧均为未来规划，不是已实现能力，未开始Tauri重构。轻量化建议：先保留Pi Node侧车适配，逐步迁移宿主；以启动、内存与体积为验收指标，不承诺未测降幅。官方资料：https://v2.tauri.app/concept/process-model/ Rust Core+WebView；https://v2.tauri.app/develop/sidecar/ 外部程序侧车；https://v2.tauri.app/learn/sidecar-nodejs/ Node侧车。迁移顺序是本项目建议。Workflow目标是复杂任务依赖、阶段验收、恢复，与Pi自主工具循环结合。协同先项目/文件级编辑状态、占用提示和冲突差异合并确认，不声称已实现实时字符级多人编辑。用户共享目录内同时编辑原型实测见第4页。</a:t>
            </a:r>
          </a:p>
          <a:p xmlns:a="http://schemas.openxmlformats.org/drawingml/2006/main">
            <a:br/>
            <a:r>
              <a:t>截图：assets/14-prd-final-preview.png；SHA256 bd975890159253b6b8a0f35c8d805824d47522e07afa21085ff3dfa8d54f76df；真实最终草稿与任务状态，自动检查passed、业务覆盖unverified，草稿未应用；裁切放大上半部。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4a26d0fde41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5280178ad4f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7955c66fe4e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75333a6364a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b9a6dadd346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49b91bbdd49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242E2C-71FD-447E-AB59-97C12C2AD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9BFF30-915D-40A5-B534-6BAD1DE18E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7C3A33-DE74-428A-AA73-C30383518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682341-3F51-47B1-ACF8-9BF3D4DD6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D95D80-910E-4F4A-A4C7-8CA64C6BD3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CED481-190F-42AA-AD60-191FDF3B3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9E767C-58EE-4FDE-9CEA-9F42702F0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9566C1-03C5-4E47-88EC-A8C0AEED38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BCC768-2228-447A-9971-B7659E146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5C9FCB-75B8-4EA4-ACAB-272F15829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b9a77afe4f463b" /><Relationship Type="http://schemas.openxmlformats.org/officeDocument/2006/relationships/slideLayout" Target="/ppt/slideLayouts/slideLayout1.xml" Id="R77df9ff86d6a4e6e" /><Relationship Type="http://schemas.openxmlformats.org/officeDocument/2006/relationships/slideLayout" Target="/ppt/slideLayouts/slideLayout2.xml" Id="Rf97ef0c641d64f48" /><Relationship Type="http://schemas.openxmlformats.org/officeDocument/2006/relationships/slideLayout" Target="/ppt/slideLayouts/slideLayout3.xml" Id="R707fa95ca5974373" /><Relationship Type="http://schemas.openxmlformats.org/officeDocument/2006/relationships/slideLayout" Target="/ppt/slideLayouts/slideLayout4.xml" Id="R5acb92f8ad554c5f" /><Relationship Type="http://schemas.openxmlformats.org/officeDocument/2006/relationships/slideLayout" Target="/ppt/slideLayouts/slideLayout5.xml" Id="R61eddd3b36a24a49" /><Relationship Type="http://schemas.openxmlformats.org/officeDocument/2006/relationships/slideLayout" Target="/ppt/slideLayouts/slideLayout6.xml" Id="R1b8e25d59a044c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f9ff86d6a4e6e"/>
    <p:sldLayoutId xmlns:r="http://schemas.openxmlformats.org/officeDocument/2006/relationships" id="2147483650" r:id="Rf97ef0c641d64f48"/>
    <p:sldLayoutId xmlns:r="http://schemas.openxmlformats.org/officeDocument/2006/relationships" id="2147483651" r:id="R707fa95ca5974373"/>
    <p:sldLayoutId xmlns:r="http://schemas.openxmlformats.org/officeDocument/2006/relationships" id="2147483652" r:id="R5acb92f8ad554c5f"/>
    <p:sldLayoutId xmlns:r="http://schemas.openxmlformats.org/officeDocument/2006/relationships" id="2147483653" r:id="R61eddd3b36a24a49"/>
    <p:sldLayoutId xmlns:r="http://schemas.openxmlformats.org/officeDocument/2006/relationships" id="2147483654" r:id="R1b8e25d59a044c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6ab66a80d440b" /><Relationship Type="http://schemas.openxmlformats.org/officeDocument/2006/relationships/notesSlide" Target="/ppt/notesSlides/notesSlide1.xml" Id="R505369bb36b84f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7f334a178e4dc0" /><Relationship Type="http://schemas.openxmlformats.org/officeDocument/2006/relationships/image" Target="/ppt/media/image.png" Id="R4635a8543400475a" /><Relationship Type="http://schemas.openxmlformats.org/officeDocument/2006/relationships/notesSlide" Target="/ppt/notesSlides/notesSlide2.xml" Id="R99b8fadd3958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fe6664c2743e5" /><Relationship Type="http://schemas.openxmlformats.org/officeDocument/2006/relationships/image" Target="/ppt/media/image2.png" Id="R2834d959bd604763" /><Relationship Type="http://schemas.openxmlformats.org/officeDocument/2006/relationships/image" Target="/ppt/media/image3.png" Id="Rcac3bb21d5b74d26" /><Relationship Type="http://schemas.openxmlformats.org/officeDocument/2006/relationships/notesSlide" Target="/ppt/notesSlides/notesSlide3.xml" Id="Re25cc66620cb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6d18d0f5f4d6e" /><Relationship Type="http://schemas.openxmlformats.org/officeDocument/2006/relationships/image" Target="/ppt/media/image4.png" Id="R76741d85cc9a4e75" /><Relationship Type="http://schemas.openxmlformats.org/officeDocument/2006/relationships/image" Target="/ppt/media/image5.png" Id="Rc8db148e3d424f0b" /><Relationship Type="http://schemas.openxmlformats.org/officeDocument/2006/relationships/notesSlide" Target="/ppt/notesSlides/notesSlide4.xml" Id="R0092560e1faa40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ece4f82d94eac" /><Relationship Type="http://schemas.openxmlformats.org/officeDocument/2006/relationships/image" Target="/ppt/media/image6.png" Id="R474ffdd88f9d4bf3" /><Relationship Type="http://schemas.openxmlformats.org/officeDocument/2006/relationships/notesSlide" Target="/ppt/notesSlides/notesSlide5.xml" Id="Rb26185fb686345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ash">
            <a:extLst xmlns:a="http://schemas.openxmlformats.org/drawingml/2006/main">
              <a:ext uri="{FF2B5EF4-FFF2-40B4-BE49-F238E27FC236}">
                <a16:creationId xmlns:a16="http://schemas.microsoft.com/office/drawing/2014/main" id="{6ED42C86-68DD-46AC-B7E5-6C0FE431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Slash Agent 架构">
            <a:extLst xmlns:a="http://schemas.openxmlformats.org/drawingml/2006/main">
              <a:ext uri="{FF2B5EF4-FFF2-40B4-BE49-F238E27FC236}">
                <a16:creationId xmlns:a16="http://schemas.microsoft.com/office/drawing/2014/main" id="{4297F10A-C7C3-4F78-BF1E-962671D0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Slash Agent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15B5-550F-45E5-A0EE-FB78A319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3FF52877-F34E-4208-83FA-2C9788B1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1 / 05">
            <a:extLst xmlns:a="http://schemas.openxmlformats.org/drawingml/2006/main">
              <a:ext uri="{FF2B5EF4-FFF2-40B4-BE49-F238E27FC236}">
                <a16:creationId xmlns:a16="http://schemas.microsoft.com/office/drawing/2014/main" id="{D53FDB06-5945-4C2C-94CE-A1339970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01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9F792-99B5-48E5-B9B5-8BBB571E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429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E3F"/>
          </a:solidFill>
          <a:ln xmlns:a="http://schemas.openxmlformats.org/drawingml/2006/main" w="0">
            <a:noFill/>
          </a:ln>
        </p:spPr>
      </p:sp>
      <p:sp>
        <p:nvSpPr>
          <p:cNvPr id="7" name="本机 Electron 桌面应用">
            <a:extLst xmlns:a="http://schemas.openxmlformats.org/drawingml/2006/main">
              <a:ext uri="{FF2B5EF4-FFF2-40B4-BE49-F238E27FC236}">
                <a16:creationId xmlns:a16="http://schemas.microsoft.com/office/drawing/2014/main" id="{A71A747D-2145-4BBA-A7A2-651F4E9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712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本机 Electron 桌面应用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086A7-E14E-4AFC-9456-27ADE737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7124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9" name="React 交互层">
            <a:extLst xmlns:a="http://schemas.openxmlformats.org/drawingml/2006/main">
              <a:ext uri="{FF2B5EF4-FFF2-40B4-BE49-F238E27FC236}">
                <a16:creationId xmlns:a16="http://schemas.microsoft.com/office/drawing/2014/main" id="{7BE5108E-A65F-48CB-9A04-42546A4A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React 交互层</a:t>
            </a:r>
          </a:p>
        </p:txBody>
      </p:sp>
      <p:sp>
        <p:nvSpPr>
          <p:cNvPr id="10" name="会话与 Plan / Build     资料与成果     模型 /">
            <a:extLst xmlns:a="http://schemas.openxmlformats.org/drawingml/2006/main">
              <a:ext uri="{FF2B5EF4-FFF2-40B4-BE49-F238E27FC236}">
                <a16:creationId xmlns:a16="http://schemas.microsoft.com/office/drawing/2014/main" id="{AF59B16A-9A62-4D43-8C9F-DFCA463A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会话与 Plan / Build     资料与成果     模型 / Skills / 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503D3-B236-4C70-9616-075E3CC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2" name="Preload · 类型化 IPC">
            <a:extLst xmlns:a="http://schemas.openxmlformats.org/drawingml/2006/main">
              <a:ext uri="{FF2B5EF4-FFF2-40B4-BE49-F238E27FC236}">
                <a16:creationId xmlns:a16="http://schemas.microsoft.com/office/drawing/2014/main" id="{AD5A09A4-DB51-4DF5-B28F-564DCBC8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Preload · 类型化 IPC</a:t>
            </a:r>
          </a:p>
        </p:txBody>
      </p:sp>
      <p:sp>
        <p:nvSpPr>
          <p:cNvPr id="13" name="请求、响应与事件">
            <a:extLst xmlns:a="http://schemas.openxmlformats.org/drawingml/2006/main">
              <a:ext uri="{FF2B5EF4-FFF2-40B4-BE49-F238E27FC236}">
                <a16:creationId xmlns:a16="http://schemas.microsoft.com/office/drawing/2014/main" id="{86EB10BE-5CA9-4192-91A6-AACECE07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请求、响应与事件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14026-F167-4EC5-9695-CE1A506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7429500" cy="284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5" name="主进程 · 本地业务服务与 Agent">
            <a:extLst xmlns:a="http://schemas.openxmlformats.org/drawingml/2006/main">
              <a:ext uri="{FF2B5EF4-FFF2-40B4-BE49-F238E27FC236}">
                <a16:creationId xmlns:a16="http://schemas.microsoft.com/office/drawing/2014/main" id="{7704B9BE-56A9-439C-8C86-259A0356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7134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主进程 · 本地业务服务与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9739F-3ADE-40B6-A126-D3477872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327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7" name="任务编排 Service">
            <a:extLst xmlns:a="http://schemas.openxmlformats.org/drawingml/2006/main">
              <a:ext uri="{FF2B5EF4-FFF2-40B4-BE49-F238E27FC236}">
                <a16:creationId xmlns:a16="http://schemas.microsoft.com/office/drawing/2014/main" id="{DCC12C80-507B-4659-A0B3-C11036BC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任务编排 Service</a:t>
            </a:r>
          </a:p>
        </p:txBody>
      </p:sp>
      <p:sp>
        <p:nvSpPr>
          <p:cNvPr id="18" name="Run 状态、恢复、模型路由">
            <a:extLst xmlns:a="http://schemas.openxmlformats.org/drawingml/2006/main">
              <a:ext uri="{FF2B5EF4-FFF2-40B4-BE49-F238E27FC236}">
                <a16:creationId xmlns:a16="http://schemas.microsoft.com/office/drawing/2014/main" id="{45740086-23E2-43E4-B754-4C0C8788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Run 状态、恢复、模型路由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49CC5-676C-4571-83CF-2A8C89D8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57625"/>
            <a:ext cx="3638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0" name="上下文与资料">
            <a:extLst xmlns:a="http://schemas.openxmlformats.org/drawingml/2006/main">
              <a:ext uri="{FF2B5EF4-FFF2-40B4-BE49-F238E27FC236}">
                <a16:creationId xmlns:a16="http://schemas.microsoft.com/office/drawing/2014/main" id="{BF20B2B8-CEF7-4292-901B-F07C1EB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33825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上下文与资料</a:t>
            </a:r>
          </a:p>
        </p:txBody>
      </p:sp>
      <p:sp>
        <p:nvSpPr>
          <p:cNvPr id="21" name="规则、Skills、引用、工作记忆">
            <a:extLst xmlns:a="http://schemas.openxmlformats.org/drawingml/2006/main">
              <a:ext uri="{FF2B5EF4-FFF2-40B4-BE49-F238E27FC236}">
                <a16:creationId xmlns:a16="http://schemas.microsoft.com/office/drawing/2014/main" id="{6060FB56-112A-4FDA-A180-49E82FB6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规则、Skills、引用、工作记忆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5567D-DE8B-45E9-A7EE-5652D17B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00575"/>
            <a:ext cx="4333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A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3" name="Pi Agent Runtime">
            <a:extLst xmlns:a="http://schemas.openxmlformats.org/drawingml/2006/main">
              <a:ext uri="{FF2B5EF4-FFF2-40B4-BE49-F238E27FC236}">
                <a16:creationId xmlns:a16="http://schemas.microsoft.com/office/drawing/2014/main" id="{351AD4BD-89B0-40E3-88A9-2056CDE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410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rPr>
              <a:t>Pi Agent Runtime</a:t>
            </a:r>
          </a:p>
        </p:txBody>
      </p:sp>
      <p:sp>
        <p:nvSpPr>
          <p:cNvPr id="24" name="推理与工具循环、会话、压缩">
            <a:extLst xmlns:a="http://schemas.openxmlformats.org/drawingml/2006/main">
              <a:ext uri="{FF2B5EF4-FFF2-40B4-BE49-F238E27FC236}">
                <a16:creationId xmlns:a16="http://schemas.microsoft.com/office/drawing/2014/main" id="{B509EB7C-38F6-41A0-8514-D2DCCFC9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62525"/>
            <a:ext cx="4105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推理与工具循环、会话、压缩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832E9-7859-4880-8C2A-D036A22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1676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6" name="只读子 Agent">
            <a:extLst xmlns:a="http://schemas.openxmlformats.org/drawingml/2006/main">
              <a:ext uri="{FF2B5EF4-FFF2-40B4-BE49-F238E27FC236}">
                <a16:creationId xmlns:a16="http://schemas.microsoft.com/office/drawing/2014/main" id="{F221CAD2-C9A5-4E6B-B72A-F05117B6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6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只读子 Agent</a:t>
            </a:r>
          </a:p>
        </p:txBody>
      </p:sp>
      <p:sp>
        <p:nvSpPr>
          <p:cNvPr id="27" name="研究与检查">
            <a:extLst xmlns:a="http://schemas.openxmlformats.org/drawingml/2006/main">
              <a:ext uri="{FF2B5EF4-FFF2-40B4-BE49-F238E27FC236}">
                <a16:creationId xmlns:a16="http://schemas.microsoft.com/office/drawing/2014/main" id="{9E1B69FF-6518-4625-9D24-778B88A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62525"/>
            <a:ext cx="144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研究与检查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F2250-C21B-408B-A84D-0D14B44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3276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9" name="工具网关与适配">
            <a:extLst xmlns:a="http://schemas.openxmlformats.org/drawingml/2006/main">
              <a:ext uri="{FF2B5EF4-FFF2-40B4-BE49-F238E27FC236}">
                <a16:creationId xmlns:a16="http://schemas.microsoft.com/office/drawing/2014/main" id="{77819BCC-EC21-423E-B38E-1A1220D1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工具网关与适配</a:t>
            </a:r>
          </a:p>
        </p:txBody>
      </p:sp>
      <p:sp>
        <p:nvSpPr>
          <p:cNvPr id="30" name="权限、按需工具、MCP / CLI">
            <a:extLst xmlns:a="http://schemas.openxmlformats.org/drawingml/2006/main">
              <a:ext uri="{FF2B5EF4-FFF2-40B4-BE49-F238E27FC236}">
                <a16:creationId xmlns:a16="http://schemas.microsoft.com/office/drawing/2014/main" id="{B7E158B7-0C04-4BD4-BE73-C546EC24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权限、按需工具、MCP / CLI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EAAE8-48D5-4CFE-890B-64E48F4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67350"/>
            <a:ext cx="36385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32" name="质量与交付">
            <a:extLst xmlns:a="http://schemas.openxmlformats.org/drawingml/2006/main">
              <a:ext uri="{FF2B5EF4-FFF2-40B4-BE49-F238E27FC236}">
                <a16:creationId xmlns:a16="http://schemas.microsoft.com/office/drawing/2014/main" id="{7B4E83BC-6C0A-4589-BD1D-BCFA2C23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质量与交付</a:t>
            </a:r>
          </a:p>
        </p:txBody>
      </p:sp>
      <p:sp>
        <p:nvSpPr>
          <p:cNvPr id="33" name="草稿、版本、检查、确认应用">
            <a:extLst xmlns:a="http://schemas.openxmlformats.org/drawingml/2006/main">
              <a:ext uri="{FF2B5EF4-FFF2-40B4-BE49-F238E27FC236}">
                <a16:creationId xmlns:a16="http://schemas.microsoft.com/office/drawing/2014/main" id="{E84F87F3-1723-4FA5-9DAE-A95B189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29300"/>
            <a:ext cx="3409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草稿、版本、检查、确认应用</a:t>
            </a:r>
          </a:p>
        </p:txBody>
      </p:sp>
      <p:sp>
        <p:nvSpPr>
          <p:cNvPr id="34" name="本地：SQLite / 项目文件 / 会话历史    外部：模型 AP">
            <a:extLst xmlns:a="http://schemas.openxmlformats.org/drawingml/2006/main">
              <a:ext uri="{FF2B5EF4-FFF2-40B4-BE49-F238E27FC236}">
                <a16:creationId xmlns:a16="http://schemas.microsoft.com/office/drawing/2014/main" id="{6A48E7AE-B6D2-4D99-924A-7CF663F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712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本地：SQLite / 项目文件 / 会话历史    外部：模型 API / MCP / SMB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55DEE-7161-4903-9654-E96D3ED0C3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81475" y="2628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B36F11-EB89-4244-8482-7CE9AD2A33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81475" y="33337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CE9230-660D-4AE4-A568-E2A2712AB5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86000" y="44481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C9686-B68D-43BC-B4DB-5A22B2F21C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34000" y="44481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A47CD-A4A1-40E6-85DC-EC4F8AC400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34075" y="4914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F60053-803A-4084-83CF-112EBA98EC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86000" y="52387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110BE2-62A1-44FF-8CE2-3EDB08F4DA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4300" y="57626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FC3053-0E86-4360-A3F9-554B73EFB98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48375" y="53530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121B58-F5AD-4A5E-8DC9-743B08CC573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334000" y="53530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EFD603-F833-4929-90D0-DD0DEA32B16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34000" y="52387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sp>
        <p:nvSpPr>
          <p:cNvPr id="45" name="Pi 集成的优势">
            <a:extLst xmlns:a="http://schemas.openxmlformats.org/drawingml/2006/main">
              <a:ext uri="{FF2B5EF4-FFF2-40B4-BE49-F238E27FC236}">
                <a16:creationId xmlns:a16="http://schemas.microsoft.com/office/drawing/2014/main" id="{4F8E96C1-DF52-416C-983F-7A3FE98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Pi 集成的优势</a:t>
            </a:r>
          </a:p>
        </p:txBody>
      </p:sp>
      <p:sp>
        <p:nvSpPr>
          <p:cNvPr id="46" name="复用模型接入与工具循环，&#10;由 Pi 管理会话与上下文。&#10;Slash 补">
            <a:extLst xmlns:a="http://schemas.openxmlformats.org/drawingml/2006/main">
              <a:ext uri="{FF2B5EF4-FFF2-40B4-BE49-F238E27FC236}">
                <a16:creationId xmlns:a16="http://schemas.microsoft.com/office/drawing/2014/main" id="{5D99C8EC-43C6-4C7D-AEE0-EF18F94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40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复用模型接入与工具循环，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由 Pi 管理会话与上下文。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Slash 补齐权限和版本交付。</a:t>
            </a:r>
          </a:p>
        </p:txBody>
      </p:sp>
      <p:sp>
        <p:nvSpPr>
          <p:cNvPr id="47" name="Agent Loop 与 Workflow">
            <a:extLst xmlns:a="http://schemas.openxmlformats.org/drawingml/2006/main">
              <a:ext uri="{FF2B5EF4-FFF2-40B4-BE49-F238E27FC236}">
                <a16:creationId xmlns:a16="http://schemas.microsoft.com/office/drawing/2014/main" id="{F66B09B9-03C0-4194-B647-2163DC0F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Agent Loop 与 Workflow</a:t>
            </a:r>
          </a:p>
        </p:txBody>
      </p:sp>
      <p:sp>
        <p:nvSpPr>
          <p:cNvPr id="48" name="Workflow 核对来源与任务边界。&#10;Pi 自主选择工具并连续执行。">
            <a:extLst xmlns:a="http://schemas.openxmlformats.org/drawingml/2006/main">
              <a:ext uri="{FF2B5EF4-FFF2-40B4-BE49-F238E27FC236}">
                <a16:creationId xmlns:a16="http://schemas.microsoft.com/office/drawing/2014/main" id="{53BEA00C-6352-4236-937C-45DA0A9E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409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Workflow 核对来源与任务边界。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 自主选择工具并连续执行。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宿主检查、有限修正后确认应用。</a:t>
            </a:r>
          </a:p>
        </p:txBody>
      </p:sp>
      <p:sp>
        <p:nvSpPr>
          <p:cNvPr id="49" name="采用的 Pi Packages">
            <a:extLst xmlns:a="http://schemas.openxmlformats.org/drawingml/2006/main">
              <a:ext uri="{FF2B5EF4-FFF2-40B4-BE49-F238E27FC236}">
                <a16:creationId xmlns:a16="http://schemas.microsoft.com/office/drawing/2014/main" id="{EBE092F0-1675-44A3-BD13-16F3A066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采用的 Pi Packages</a:t>
            </a:r>
          </a:p>
        </p:txBody>
      </p:sp>
      <p:sp>
        <p:nvSpPr>
          <p:cNvPr id="50" name="pi-web-access  网页研究&#10;pi-mcp-adapter ">
            <a:extLst xmlns:a="http://schemas.openxmlformats.org/drawingml/2006/main">
              <a:ext uri="{FF2B5EF4-FFF2-40B4-BE49-F238E27FC236}">
                <a16:creationId xmlns:a16="http://schemas.microsoft.com/office/drawing/2014/main" id="{1FD03A15-369C-4A42-8083-2C32C933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0175"/>
            <a:ext cx="3409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pi-web-access  网页研究</a:t>
            </a:r>
          </a:p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pi-mcp-adapter  外部工具</a:t>
            </a:r>
          </a:p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pi-subagents  只读研究与检查</a:t>
            </a:r>
          </a:p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pi-memory  项目候选备忘</a:t>
            </a:r>
          </a:p>
        </p:txBody>
      </p:sp>
    </p:spTree>
    <p:extLst>
      <p:ext uri="{BB962C8B-B14F-4D97-AF65-F5344CB8AC3E}">
        <p14:creationId xmlns:p14="http://schemas.microsoft.com/office/powerpoint/2010/main" val="1806052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ash">
            <a:extLst xmlns:a="http://schemas.openxmlformats.org/drawingml/2006/main">
              <a:ext uri="{FF2B5EF4-FFF2-40B4-BE49-F238E27FC236}">
                <a16:creationId xmlns:a16="http://schemas.microsoft.com/office/drawing/2014/main" id="{161809FD-3C16-4331-A667-9535D09B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模型接入与协议支持">
            <a:extLst xmlns:a="http://schemas.openxmlformats.org/drawingml/2006/main">
              <a:ext uri="{FF2B5EF4-FFF2-40B4-BE49-F238E27FC236}">
                <a16:creationId xmlns:a16="http://schemas.microsoft.com/office/drawing/2014/main" id="{CCCE131E-8E71-45AE-93A3-87D8D01A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模型接入与协议支持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2FF14-36C6-4552-9113-956A980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094C0545-4EE3-4A49-B9CD-BDC2E486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2 / 05">
            <a:extLst xmlns:a="http://schemas.openxmlformats.org/drawingml/2006/main">
              <a:ext uri="{FF2B5EF4-FFF2-40B4-BE49-F238E27FC236}">
                <a16:creationId xmlns:a16="http://schemas.microsoft.com/office/drawing/2014/main" id="{B420B613-E966-4AF1-9C73-F49D45D6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02 / 05</a:t>
            </a:r>
          </a:p>
        </p:txBody>
      </p:sp>
      <p:sp>
        <p:nvSpPr>
          <p:cNvPr id="6" name="官方 API、第三方供应商与兼容中转">
            <a:extLst xmlns:a="http://schemas.openxmlformats.org/drawingml/2006/main">
              <a:ext uri="{FF2B5EF4-FFF2-40B4-BE49-F238E27FC236}">
                <a16:creationId xmlns:a16="http://schemas.microsoft.com/office/drawing/2014/main" id="{CD1C3180-2E1C-4C02-8185-2A25AAB5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85900"/>
            <a:ext cx="1120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官方 API、第三方供应商与兼容中转</a:t>
            </a:r>
          </a:p>
        </p:txBody>
      </p:sp>
      <p:sp>
        <p:nvSpPr>
          <p:cNvPr id="7" name="填写 API 地址、密钥与模型 ID，配置默认模型和思考档位。">
            <a:extLst xmlns:a="http://schemas.openxmlformats.org/drawingml/2006/main">
              <a:ext uri="{FF2B5EF4-FFF2-40B4-BE49-F238E27FC236}">
                <a16:creationId xmlns:a16="http://schemas.microsoft.com/office/drawing/2014/main" id="{1DCC651A-4595-49C7-80E1-6202CC71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120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填写 API 地址、密钥与模型 ID，配置默认模型和思考档位。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2A9A9-9649-4EAC-B7BE-705E76B7C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5a8543400475a"/>
          <a:srcRect xmlns:a="http://schemas.openxmlformats.org/drawingml/2006/main" l="28000" t="25700" r="28000" b="39000"/>
          <a:stretch xmlns:a="http://schemas.openxmlformats.org/drawingml/2006/main"/>
        </p:blipFill>
        <p:spPr>
          <a:xfrm xmlns:a="http://schemas.openxmlformats.org/drawingml/2006/main">
            <a:off x="495300" y="2571750"/>
            <a:ext cx="7286625" cy="3257550"/>
          </a:xfrm>
          <a:prstGeom xmlns:a="http://schemas.openxmlformats.org/drawingml/2006/main" prst="rect">
            <a:avLst/>
          </a:prstGeom>
        </p:spPr>
      </p:pic>
      <p:sp>
        <p:nvSpPr>
          <p:cNvPr id="9" name="三种协议">
            <a:extLst xmlns:a="http://schemas.openxmlformats.org/drawingml/2006/main">
              <a:ext uri="{FF2B5EF4-FFF2-40B4-BE49-F238E27FC236}">
                <a16:creationId xmlns:a16="http://schemas.microsoft.com/office/drawing/2014/main" id="{8F0270D8-F606-4464-95F6-A8036F8B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38425"/>
            <a:ext cx="3419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三种协议</a:t>
            </a:r>
          </a:p>
        </p:txBody>
      </p:sp>
      <p:sp>
        <p:nvSpPr>
          <p:cNvPr id="10" name="OpenAI Responses&#10;OpenAI Chat Comple">
            <a:extLst xmlns:a="http://schemas.openxmlformats.org/drawingml/2006/main">
              <a:ext uri="{FF2B5EF4-FFF2-40B4-BE49-F238E27FC236}">
                <a16:creationId xmlns:a16="http://schemas.microsoft.com/office/drawing/2014/main" id="{9557D965-81BD-46F9-911C-8F1640E8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09925"/>
            <a:ext cx="34194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OpenAI Responses</a:t>
            </a:r>
          </a:p>
          <a:p xmlns:a="http://schemas.openxmlformats.org/drawingml/2006/main">
            <a: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OpenAI Chat Completions</a:t>
            </a:r>
          </a:p>
          <a:p xmlns:a="http://schemas.openxmlformats.org/drawingml/2006/main">
            <a: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Anthropic Messages</a:t>
            </a:r>
          </a:p>
        </p:txBody>
      </p:sp>
      <p:sp>
        <p:nvSpPr>
          <p:cNvPr id="11" name="自定义接入">
            <a:extLst xmlns:a="http://schemas.openxmlformats.org/drawingml/2006/main">
              <a:ext uri="{FF2B5EF4-FFF2-40B4-BE49-F238E27FC236}">
                <a16:creationId xmlns:a16="http://schemas.microsoft.com/office/drawing/2014/main" id="{F3993A30-1CAF-49CF-AA55-B9806AB4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762500"/>
            <a:ext cx="3419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自定义接入</a:t>
            </a:r>
          </a:p>
        </p:txBody>
      </p:sp>
      <p:sp>
        <p:nvSpPr>
          <p:cNvPr id="12" name="按上游协议选择配置，&#10;可手动设置模型能力与代理。">
            <a:extLst xmlns:a="http://schemas.openxmlformats.org/drawingml/2006/main">
              <a:ext uri="{FF2B5EF4-FFF2-40B4-BE49-F238E27FC236}">
                <a16:creationId xmlns:a16="http://schemas.microsoft.com/office/drawing/2014/main" id="{956AFFA8-6943-47F0-A57F-3D45C580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267325"/>
            <a:ext cx="3419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按上游协议选择配置，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可手动设置模型能力与代理。</a:t>
            </a:r>
          </a:p>
        </p:txBody>
      </p:sp>
      <p:sp>
        <p:nvSpPr>
          <p:cNvPr id="13" name="待接入：官方订阅登录、上游模型列表">
            <a:extLst xmlns:a="http://schemas.openxmlformats.org/drawingml/2006/main">
              <a:ext uri="{FF2B5EF4-FFF2-40B4-BE49-F238E27FC236}">
                <a16:creationId xmlns:a16="http://schemas.microsoft.com/office/drawing/2014/main" id="{C2A0A8E6-F1A6-43D1-AA98-E3CB3372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1201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待接入：官方订阅登录、上游模型列表</a:t>
            </a:r>
          </a:p>
        </p:txBody>
      </p:sp>
    </p:spTree>
    <p:extLst>
      <p:ext uri="{BB962C8B-B14F-4D97-AF65-F5344CB8AC3E}">
        <p14:creationId xmlns:p14="http://schemas.microsoft.com/office/powerpoint/2010/main" val="1711131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ash">
            <a:extLst xmlns:a="http://schemas.openxmlformats.org/drawingml/2006/main">
              <a:ext uri="{FF2B5EF4-FFF2-40B4-BE49-F238E27FC236}">
                <a16:creationId xmlns:a16="http://schemas.microsoft.com/office/drawing/2014/main" id="{8845E4D9-9E87-4DCE-9F0B-06DFA87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Skills 导入与 MCP 连接">
            <a:extLst xmlns:a="http://schemas.openxmlformats.org/drawingml/2006/main">
              <a:ext uri="{FF2B5EF4-FFF2-40B4-BE49-F238E27FC236}">
                <a16:creationId xmlns:a16="http://schemas.microsoft.com/office/drawing/2014/main" id="{4702FFE7-3101-41E7-84D2-13C0941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Skills 导入与 MCP 连接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ADAE9-A87A-408B-9374-769543E4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933FC9CD-5E07-43FD-AE13-E4FB204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3 / 05">
            <a:extLst xmlns:a="http://schemas.openxmlformats.org/drawingml/2006/main">
              <a:ext uri="{FF2B5EF4-FFF2-40B4-BE49-F238E27FC236}">
                <a16:creationId xmlns:a16="http://schemas.microsoft.com/office/drawing/2014/main" id="{62C007A4-CEB9-42C5-B972-9207C40D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  <p:sp>
        <p:nvSpPr>
          <p:cNvPr id="6" name="Skills 复用工作方法">
            <a:extLst xmlns:a="http://schemas.openxmlformats.org/drawingml/2006/main">
              <a:ext uri="{FF2B5EF4-FFF2-40B4-BE49-F238E27FC236}">
                <a16:creationId xmlns:a16="http://schemas.microsoft.com/office/drawing/2014/main" id="{3408444B-E85B-451C-889D-4A3CE328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1447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Skills 复用工作方法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AE6F0-9464-4F41-8925-2A13E0DBA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4d959bd604763"/>
          <a:srcRect xmlns:a="http://schemas.openxmlformats.org/drawingml/2006/main" l="29140" t="41670" r="53690" b="40000"/>
          <a:stretch xmlns:a="http://schemas.openxmlformats.org/drawingml/2006/main"/>
        </p:blipFill>
        <p:spPr>
          <a:xfrm xmlns:a="http://schemas.openxmlformats.org/drawingml/2006/main">
            <a:off x="495300" y="2057400"/>
            <a:ext cx="5143500" cy="2438400"/>
          </a:xfrm>
          <a:prstGeom xmlns:a="http://schemas.openxmlformats.org/drawingml/2006/main" prst="rect">
            <a:avLst/>
          </a:prstGeom>
        </p:spPr>
      </p:pic>
      <p:sp>
        <p:nvSpPr>
          <p:cNvPr id="8" name="从本地文件夹或 GitHub 导入，&#10;按需启用并在会话中调用。">
            <a:extLst xmlns:a="http://schemas.openxmlformats.org/drawingml/2006/main">
              <a:ext uri="{FF2B5EF4-FFF2-40B4-BE49-F238E27FC236}">
                <a16:creationId xmlns:a16="http://schemas.microsoft.com/office/drawing/2014/main" id="{63252C1D-65CA-4069-BFFE-5F3159A6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从本地文件夹或 GitHub 导入，</a:t>
            </a:r>
          </a:p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按需启用并在会话中调用。</a:t>
            </a:r>
          </a:p>
        </p:txBody>
      </p:sp>
      <p:sp>
        <p:nvSpPr>
          <p:cNvPr id="9" name="支持包含 SKILL.md 的技能包。">
            <a:extLst xmlns:a="http://schemas.openxmlformats.org/drawingml/2006/main">
              <a:ext uri="{FF2B5EF4-FFF2-40B4-BE49-F238E27FC236}">
                <a16:creationId xmlns:a16="http://schemas.microsoft.com/office/drawing/2014/main" id="{E4209FD5-4710-4455-9F18-22A9215D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支持包含 SKILL.md 的技能包。</a:t>
            </a:r>
          </a:p>
        </p:txBody>
      </p:sp>
      <p:sp>
        <p:nvSpPr>
          <p:cNvPr id="10" name="MCP 扩展外部工具">
            <a:extLst xmlns:a="http://schemas.openxmlformats.org/drawingml/2006/main">
              <a:ext uri="{FF2B5EF4-FFF2-40B4-BE49-F238E27FC236}">
                <a16:creationId xmlns:a16="http://schemas.microsoft.com/office/drawing/2014/main" id="{A0E3367E-7D06-48B4-9E26-DBD5C6C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14475"/>
            <a:ext cx="5467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MCP 扩展外部工具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048CF-7E13-4D33-98EA-71CD9F2DA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3bb21d5b74d26"/>
          <a:srcRect xmlns:a="http://schemas.openxmlformats.org/drawingml/2006/main" l="28500" t="24800" r="29200" b="36300"/>
          <a:stretch xmlns:a="http://schemas.openxmlformats.org/drawingml/2006/main"/>
        </p:blipFill>
        <p:spPr>
          <a:xfrm xmlns:a="http://schemas.openxmlformats.org/drawingml/2006/main">
            <a:off x="6229350" y="2057400"/>
            <a:ext cx="5467350" cy="2505075"/>
          </a:xfrm>
          <a:prstGeom xmlns:a="http://schemas.openxmlformats.org/drawingml/2006/main" prst="rect">
            <a:avLst/>
          </a:prstGeom>
        </p:spPr>
      </p:pic>
      <p:sp>
        <p:nvSpPr>
          <p:cNvPr id="12" name="预设：Vercel、Supabase 官方 MCP&#10;自定义：HTTP ">
            <a:extLst xmlns:a="http://schemas.openxmlformats.org/drawingml/2006/main">
              <a:ext uri="{FF2B5EF4-FFF2-40B4-BE49-F238E27FC236}">
                <a16:creationId xmlns:a16="http://schemas.microsoft.com/office/drawing/2014/main" id="{E441033E-85CD-4738-B6A6-66FA1CE0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546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预设：Vercel、Supabase 官方 MCP</a:t>
            </a:r>
          </a:p>
          <a:p xmlns:a="http://schemas.openxmlformats.org/drawingml/2006/main">
            <a:pPr>
              <a:def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自定义：HTTP 地址或本地 stdio 服务</a:t>
            </a:r>
          </a:p>
        </p:txBody>
      </p:sp>
      <p:sp>
        <p:nvSpPr>
          <p:cNvPr id="13" name="按连接配置登录与权限范围。">
            <a:extLst xmlns:a="http://schemas.openxmlformats.org/drawingml/2006/main">
              <a:ext uri="{FF2B5EF4-FFF2-40B4-BE49-F238E27FC236}">
                <a16:creationId xmlns:a16="http://schemas.microsoft.com/office/drawing/2014/main" id="{96421672-8296-4A55-B9B8-22EDBF38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293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按连接配置登录与权限范围。</a:t>
            </a:r>
          </a:p>
        </p:txBody>
      </p:sp>
    </p:spTree>
    <p:extLst>
      <p:ext uri="{BB962C8B-B14F-4D97-AF65-F5344CB8AC3E}">
        <p14:creationId xmlns:p14="http://schemas.microsoft.com/office/powerpoint/2010/main" val="1993182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ash">
            <a:extLst xmlns:a="http://schemas.openxmlformats.org/drawingml/2006/main">
              <a:ext uri="{FF2B5EF4-FFF2-40B4-BE49-F238E27FC236}">
                <a16:creationId xmlns:a16="http://schemas.microsoft.com/office/drawing/2014/main" id="{AC10D90D-BDBB-44C2-9B2B-DFF21569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右侧查看资料与成果，共享同一份原型">
            <a:extLst xmlns:a="http://schemas.openxmlformats.org/drawingml/2006/main">
              <a:ext uri="{FF2B5EF4-FFF2-40B4-BE49-F238E27FC236}">
                <a16:creationId xmlns:a16="http://schemas.microsoft.com/office/drawing/2014/main" id="{5E706BF9-40A5-49FD-A83B-024B15F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右侧查看资料与成果，共享同一份原型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223D0-A617-4DC1-AEAA-E6EDE18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CEED76DB-141E-4001-AC71-EB366B9F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4 / 05">
            <a:extLst xmlns:a="http://schemas.openxmlformats.org/drawingml/2006/main">
              <a:ext uri="{FF2B5EF4-FFF2-40B4-BE49-F238E27FC236}">
                <a16:creationId xmlns:a16="http://schemas.microsoft.com/office/drawing/2014/main" id="{024B70A1-C25C-467B-8300-3A140D83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04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6E4A-8334-4197-8BC2-D73A1CB68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41d85cc9a4e75"/>
          <a:srcRect xmlns:a="http://schemas.openxmlformats.org/drawingml/2006/main" l="21400" t="13200" r="1400" b="44600"/>
          <a:stretch xmlns:a="http://schemas.openxmlformats.org/drawingml/2006/main"/>
        </p:blipFill>
        <p:spPr>
          <a:xfrm xmlns:a="http://schemas.openxmlformats.org/drawingml/2006/main">
            <a:off x="495300" y="1524000"/>
            <a:ext cx="6915150" cy="21336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8FD6B-1D4F-425F-9F6B-76CFC3260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b148e3d424f0b"/>
          <a:srcRect xmlns:a="http://schemas.openxmlformats.org/drawingml/2006/main" l="82300" t="5000" r="0" b="61000"/>
          <a:stretch xmlns:a="http://schemas.openxmlformats.org/drawingml/2006/main"/>
        </p:blipFill>
        <p:spPr>
          <a:xfrm xmlns:a="http://schemas.openxmlformats.org/drawingml/2006/main">
            <a:off x="8248650" y="1524000"/>
            <a:ext cx="3448050" cy="3648075"/>
          </a:xfrm>
          <a:prstGeom xmlns:a="http://schemas.openxmlformats.org/drawingml/2006/main" prst="rect">
            <a:avLst/>
          </a:prstGeom>
        </p:spPr>
      </p:pic>
      <p:sp>
        <p:nvSpPr>
          <p:cNvPr id="8" name="SMB 指向同一份共享目录">
            <a:extLst xmlns:a="http://schemas.openxmlformats.org/drawingml/2006/main">
              <a:ext uri="{FF2B5EF4-FFF2-40B4-BE49-F238E27FC236}">
                <a16:creationId xmlns:a16="http://schemas.microsoft.com/office/drawing/2014/main" id="{74CDC1A7-7C8F-4278-A642-8F9BCC1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SMB 指向同一份共享目录</a:t>
            </a:r>
          </a:p>
        </p:txBody>
      </p:sp>
      <p:sp>
        <p:nvSpPr>
          <p:cNvPr id="9" name="同事通过 Windows 盘符访问，&#10;减少复制原型与人工合版。">
            <a:extLst xmlns:a="http://schemas.openxmlformats.org/drawingml/2006/main">
              <a:ext uri="{FF2B5EF4-FFF2-40B4-BE49-F238E27FC236}">
                <a16:creationId xmlns:a16="http://schemas.microsoft.com/office/drawing/2014/main" id="{6B6DA1BE-AAC6-406D-A6C4-14ED4015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691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同事通过 Windows 盘符访问，</a:t>
            </a:r>
          </a:p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减少复制原型与人工合版。</a:t>
            </a:r>
          </a:p>
        </p:txBody>
      </p:sp>
      <p:sp>
        <p:nvSpPr>
          <p:cNvPr id="10" name="用户实测：可与同事同时编辑共享目录内的原型。">
            <a:extLst xmlns:a="http://schemas.openxmlformats.org/drawingml/2006/main">
              <a:ext uri="{FF2B5EF4-FFF2-40B4-BE49-F238E27FC236}">
                <a16:creationId xmlns:a16="http://schemas.microsoft.com/office/drawing/2014/main" id="{227EA419-E753-44EC-9770-FF09F425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用户实测：可与同事同时编辑共享目录内的原型。</a:t>
            </a:r>
          </a:p>
        </p:txBody>
      </p:sp>
      <p:sp>
        <p:nvSpPr>
          <p:cNvPr id="11" name="右侧的资料与成果">
            <a:extLst xmlns:a="http://schemas.openxmlformats.org/drawingml/2006/main">
              <a:ext uri="{FF2B5EF4-FFF2-40B4-BE49-F238E27FC236}">
                <a16:creationId xmlns:a16="http://schemas.microsoft.com/office/drawing/2014/main" id="{52B26B3D-DE0A-4198-8166-66C2483F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右侧的资料与成果</a:t>
            </a:r>
          </a:p>
        </p:txBody>
      </p:sp>
      <p:sp>
        <p:nvSpPr>
          <p:cNvPr id="12" name="查看、引用和打开文件。&#10;修改仍从会话发起。">
            <a:extLst xmlns:a="http://schemas.openxmlformats.org/drawingml/2006/main">
              <a:ext uri="{FF2B5EF4-FFF2-40B4-BE49-F238E27FC236}">
                <a16:creationId xmlns:a16="http://schemas.microsoft.com/office/drawing/2014/main" id="{87A102AE-DD39-4949-B15E-EFE3AD4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245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查看、引用和打开文件。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修改仍从会话发起。</a:t>
            </a:r>
          </a:p>
        </p:txBody>
      </p:sp>
    </p:spTree>
    <p:extLst>
      <p:ext uri="{BB962C8B-B14F-4D97-AF65-F5344CB8AC3E}">
        <p14:creationId xmlns:p14="http://schemas.microsoft.com/office/powerpoint/2010/main" val="1284716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ash">
            <a:extLst xmlns:a="http://schemas.openxmlformats.org/drawingml/2006/main">
              <a:ext uri="{FF2B5EF4-FFF2-40B4-BE49-F238E27FC236}">
                <a16:creationId xmlns:a16="http://schemas.microsoft.com/office/drawing/2014/main" id="{C09D244D-1C7E-403B-B388-CD194942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实际任务与后续优化">
            <a:extLst xmlns:a="http://schemas.openxmlformats.org/drawingml/2006/main">
              <a:ext uri="{FF2B5EF4-FFF2-40B4-BE49-F238E27FC236}">
                <a16:creationId xmlns:a16="http://schemas.microsoft.com/office/drawing/2014/main" id="{113B04F7-3F51-40F1-926C-BAB86BF8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实际任务与后续优化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A10D4-FA6D-49FC-AB26-EEFA3330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3BBAF1D4-0C4C-4F93-9625-9676924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5 / 05">
            <a:extLst xmlns:a="http://schemas.openxmlformats.org/drawingml/2006/main">
              <a:ext uri="{FF2B5EF4-FFF2-40B4-BE49-F238E27FC236}">
                <a16:creationId xmlns:a16="http://schemas.microsoft.com/office/drawing/2014/main" id="{044334F3-0572-4AA7-AEE9-F8B736B6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05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39839-32EB-4200-B1C2-AAC1D3D176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ffdd88f9d4bf3"/>
          <a:srcRect xmlns:a="http://schemas.openxmlformats.org/drawingml/2006/main" l="20900" t="4500" r="17300" b="38000"/>
          <a:stretch xmlns:a="http://schemas.openxmlformats.org/drawingml/2006/main"/>
        </p:blipFill>
        <p:spPr>
          <a:xfrm xmlns:a="http://schemas.openxmlformats.org/drawingml/2006/main">
            <a:off x="495300" y="1533525"/>
            <a:ext cx="6191250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真实任务：预约管理 PRD">
            <a:extLst xmlns:a="http://schemas.openxmlformats.org/drawingml/2006/main">
              <a:ext uri="{FF2B5EF4-FFF2-40B4-BE49-F238E27FC236}">
                <a16:creationId xmlns:a16="http://schemas.microsoft.com/office/drawing/2014/main" id="{9C7677A1-0F3B-469D-835D-CCC4946A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真实任务：预约管理 PRD</a:t>
            </a:r>
          </a:p>
        </p:txBody>
      </p:sp>
      <p:sp>
        <p:nvSpPr>
          <p:cNvPr id="8" name="约 4 分 28 秒完成，自动修正 1 轮。&#10;自动检查通过，业务覆盖待">
            <a:extLst xmlns:a="http://schemas.openxmlformats.org/drawingml/2006/main">
              <a:ext uri="{FF2B5EF4-FFF2-40B4-BE49-F238E27FC236}">
                <a16:creationId xmlns:a16="http://schemas.microsoft.com/office/drawing/2014/main" id="{D768CDD5-91F0-44FD-AA3A-0BC7E496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149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约 4 分 28 秒完成，自动修正 1 轮。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自动检查通过，业务覆盖待核对。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成果为待应用草稿。</a:t>
            </a:r>
          </a:p>
        </p:txBody>
      </p:sp>
      <p:sp>
        <p:nvSpPr>
          <p:cNvPr id="9" name="未来优化目标">
            <a:extLst xmlns:a="http://schemas.openxmlformats.org/drawingml/2006/main">
              <a:ext uri="{FF2B5EF4-FFF2-40B4-BE49-F238E27FC236}">
                <a16:creationId xmlns:a16="http://schemas.microsoft.com/office/drawing/2014/main" id="{A1243950-0615-482C-8A10-A91E0BB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533525"/>
            <a:ext cx="4543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未来优化目标</a:t>
            </a:r>
          </a:p>
        </p:txBody>
      </p:sp>
      <p:sp>
        <p:nvSpPr>
          <p:cNvPr id="10" name="01  桌面轻量化">
            <a:extLst xmlns:a="http://schemas.openxmlformats.org/drawingml/2006/main">
              <a:ext uri="{FF2B5EF4-FFF2-40B4-BE49-F238E27FC236}">
                <a16:creationId xmlns:a16="http://schemas.microsoft.com/office/drawing/2014/main" id="{5E266685-EA98-4B78-BFB7-8000475C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454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01  桌面轻量化</a:t>
            </a:r>
          </a:p>
        </p:txBody>
      </p:sp>
      <p:sp>
        <p:nvSpPr>
          <p:cNvPr id="11" name="Tauri + Rust 轻量化重构，&#10;降低桌面负担，保留 Pi 能力">
            <a:extLst xmlns:a="http://schemas.openxmlformats.org/drawingml/2006/main">
              <a:ext uri="{FF2B5EF4-FFF2-40B4-BE49-F238E27FC236}">
                <a16:creationId xmlns:a16="http://schemas.microsoft.com/office/drawing/2014/main" id="{2A1C605C-426A-4461-BE0F-34A40B2B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460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Tauri + Rust 轻量化重构，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降低桌面负担，保留 Pi 能力。</a:t>
            </a:r>
          </a:p>
        </p:txBody>
      </p:sp>
      <p:sp>
        <p:nvSpPr>
          <p:cNvPr id="12" name="02  复杂任务 Workflow">
            <a:extLst xmlns:a="http://schemas.openxmlformats.org/drawingml/2006/main">
              <a:ext uri="{FF2B5EF4-FFF2-40B4-BE49-F238E27FC236}">
                <a16:creationId xmlns:a16="http://schemas.microsoft.com/office/drawing/2014/main" id="{623AF9E8-6DEF-4CED-B29A-D6B8538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67100"/>
            <a:ext cx="454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02  复杂任务 Workflow</a:t>
            </a:r>
          </a:p>
        </p:txBody>
      </p:sp>
      <p:sp>
        <p:nvSpPr>
          <p:cNvPr id="13" name="完善任务依赖、阶段验收和失败恢复。&#10;当前复杂项目编排仍未达到生产级。">
            <a:extLst xmlns:a="http://schemas.openxmlformats.org/drawingml/2006/main">
              <a:ext uri="{FF2B5EF4-FFF2-40B4-BE49-F238E27FC236}">
                <a16:creationId xmlns:a16="http://schemas.microsoft.com/office/drawing/2014/main" id="{C3FC9250-B4BF-40D9-ABD7-15D9CA73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完善任务依赖、阶段验收和失败恢复。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当前复杂项目编排仍未达到生产级。</a:t>
            </a:r>
          </a:p>
        </p:txBody>
      </p:sp>
      <p:sp>
        <p:nvSpPr>
          <p:cNvPr id="14" name="03  协同工作方案">
            <a:extLst xmlns:a="http://schemas.openxmlformats.org/drawingml/2006/main">
              <a:ext uri="{FF2B5EF4-FFF2-40B4-BE49-F238E27FC236}">
                <a16:creationId xmlns:a16="http://schemas.microsoft.com/office/drawing/2014/main" id="{4ED42161-41EC-45CF-A445-78F0F7C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57750"/>
            <a:ext cx="454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03  协同工作方案</a:t>
            </a:r>
          </a:p>
        </p:txBody>
      </p:sp>
      <p:sp>
        <p:nvSpPr>
          <p:cNvPr id="15" name="显示成员编辑状态与文件占用，&#10;提供冲突检测、差异比较和合并确认。">
            <a:extLst xmlns:a="http://schemas.openxmlformats.org/drawingml/2006/main">
              <a:ext uri="{FF2B5EF4-FFF2-40B4-BE49-F238E27FC236}">
                <a16:creationId xmlns:a16="http://schemas.microsoft.com/office/drawing/2014/main" id="{95B681ED-69C2-4A01-8FBE-15A8505D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295900"/>
            <a:ext cx="4543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显示成员编辑状态与文件占用，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提供冲突检测、差异比较和合并确认。</a:t>
            </a:r>
          </a:p>
        </p:txBody>
      </p:sp>
    </p:spTree>
    <p:extLst>
      <p:ext uri="{BB962C8B-B14F-4D97-AF65-F5344CB8AC3E}">
        <p14:creationId xmlns:p14="http://schemas.microsoft.com/office/powerpoint/2010/main" val="1205252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2026-10-12T07:54:27.8200000Z</dcterms:created>
  <dcterms:modified xsi:type="dcterms:W3CDTF">2026-10-12T07:54:27.8210000Z</dcterms:modified>
</coreProperties>
</file>