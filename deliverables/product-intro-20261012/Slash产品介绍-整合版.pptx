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60b9bcf734299" /><Relationship Type="http://schemas.openxmlformats.org/officeDocument/2006/relationships/extended-properties" Target="/docProps/app.xml" Id="R626569c9e12d4b71" /><Relationship Type="http://schemas.openxmlformats.org/officeDocument/2006/relationships/officeDocument" Target="/ppt/presentation.xml" Id="R7e99ed5992d747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49b7e2a3e432d"/>
  </p:sldMasterIdLst>
  <p:notesMasterIdLst>
    <p:notesMasterId xmlns:r="http://schemas.openxmlformats.org/officeDocument/2006/relationships" r:id="R5d4e4695297d4d75"/>
  </p:notesMasterIdLst>
  <p:sldIdLst>
    <p:sldId xmlns:r="http://schemas.openxmlformats.org/officeDocument/2006/relationships" id="256" r:id="R8d69ad7856874f45"/>
    <p:sldId xmlns:r="http://schemas.openxmlformats.org/officeDocument/2006/relationships" id="257" r:id="R2dbb78ef23ac4396"/>
    <p:sldId xmlns:r="http://schemas.openxmlformats.org/officeDocument/2006/relationships" id="258" r:id="Rafe262693bfe4abb"/>
    <p:sldId xmlns:r="http://schemas.openxmlformats.org/officeDocument/2006/relationships" id="259" r:id="Rce654faefcff42ca"/>
    <p:sldId xmlns:r="http://schemas.openxmlformats.org/officeDocument/2006/relationships" id="260" r:id="R491d746a3f204e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a8f11051d492d" /><Relationship Type="http://schemas.openxmlformats.org/officeDocument/2006/relationships/slideMaster" Target="/ppt/slideMasters/slideMaster1.xml" Id="Rd3549b7e2a3e432d" /><Relationship Type="http://schemas.openxmlformats.org/officeDocument/2006/relationships/notesMaster" Target="/ppt/notesMasters/notesMaster1.xml" Id="R5d4e4695297d4d75" /><Relationship Type="http://schemas.openxmlformats.org/officeDocument/2006/relationships/presProps" Target="/ppt/presProps.xml" Id="R15b3bd28b71d4158" /><Relationship Type="http://schemas.openxmlformats.org/officeDocument/2006/relationships/tableStyles" Target="/ppt/tableStyles.xml" Id="R137ec3b71a0c4f1a" /><Relationship Type="http://schemas.openxmlformats.org/officeDocument/2006/relationships/slide" Target="/ppt/slides/slide1.xml" Id="R8d69ad7856874f45" /><Relationship Type="http://schemas.openxmlformats.org/officeDocument/2006/relationships/slide" Target="/ppt/slides/slide2.xml" Id="R2dbb78ef23ac4396" /><Relationship Type="http://schemas.openxmlformats.org/officeDocument/2006/relationships/slide" Target="/ppt/slides/slide3.xml" Id="Rafe262693bfe4abb" /><Relationship Type="http://schemas.openxmlformats.org/officeDocument/2006/relationships/slide" Target="/ppt/slides/slide4.xml" Id="Rce654faefcff42ca" /><Relationship Type="http://schemas.openxmlformats.org/officeDocument/2006/relationships/slide" Target="/ppt/slides/slide5.xml" Id="R491d746a3f204e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0f6e5410c24f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ced742fbd4b2f" /><Relationship Type="http://schemas.openxmlformats.org/officeDocument/2006/relationships/notesMaster" Target="/ppt/notesMasters/notesMaster1.xml" Id="R4d7d471dc21e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141d758d8547dd" /><Relationship Type="http://schemas.openxmlformats.org/officeDocument/2006/relationships/notesMaster" Target="/ppt/notesMasters/notesMaster1.xml" Id="R340257c6d3134d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1e94c49e804e7a" /><Relationship Type="http://schemas.openxmlformats.org/officeDocument/2006/relationships/notesMaster" Target="/ppt/notesMasters/notesMaster1.xml" Id="R277b349588ad47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626ace83814f17" /><Relationship Type="http://schemas.openxmlformats.org/officeDocument/2006/relationships/notesMaster" Target="/ppt/notesMasters/notesMaster1.xml" Id="Rb0fdc113f9a6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a555fd2d440bd" /><Relationship Type="http://schemas.openxmlformats.org/officeDocument/2006/relationships/notesMaster" Target="/ppt/notesMasters/notesMaster1.xml" Id="R64196e17738c4f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架构按用户提供2026-10-09图的React/Preload/Service/上下文/Pi/网关/质量分层重排，缩编外部系统及底部存储。模型API、MCP/官方CLI及Windows SMB为外部系统；SQLite保存运行状态，Pi会话、项目文件、草稿和快照留在本机，HTML预览与截图受控。云知识库及向量退出当前产品，没有恢复。来源：main/agent.ts createAgentSession/session.prompt及工具注册，main/service.ts prepareRunWorkflow/检查有限修正/草稿应用，main/pm-workflows.ts来源版本核对。Workflow是宿主业务边界，与Pi自主循环结合，不是固定链条代替Agent。Pi SDK0.86.1。四包真实适配：pi-web-access0.37.0 stdio MCP按需启动DuckDuckGo网页研究；pi-mcp-adapter5.1.0 host-managed MCP复用；pi-subagents0.76.1独立只读Pi会话、父权限/取消与预算；pi-memory0.4.2独立worker、项目隔离候选备忘及来源。版本来源package.json及main/pi-packages.ts。其他包pi-lens4.4.0仅Build代码草稿审查、@plannotator/pi-extension0.28.8仅Plan审阅、Langfuse0.1.2默认关闭。现有本机测试不代表所有云端复杂任务生产稳定。受控子代理不自动扩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生成的概念协作图，不是软件截图。2026-10-12用户选定原图，保持原字节、完整比例与全部文字。该页为光栅图片，可移动或替换，图内文字和图形不是原生可编辑对象。原图：assets/slash-pi-llm-collaboration.png；SHA256 bd599a4722b83dd53376ee2e76d3c02b95266fe7fc33ec7f5a605a08bbce97cf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来源src/SettingsModal.tsx API地址/密钥/模型ID和三协议表单；main/model-runtime.ts InMemoryCredentialStore/registerProvider/setRuntimeApiKey，main/main.ts models IPC仅调用本机modelSettings.list；main/model-thinking.ts /models/{id}只用于已知ID能力元数据，不是上游完整列表发现。当前未实现模型官方订阅OAuth，MCP OAuth不可当作模型登录。页内明确待接入。已支持为配置与协议适配，不表示所有供应商或中转均验收。</a:t>
            </a:r>
          </a:p>
          <a:p xmlns:a="http://schemas.openxmlformats.org/drawingml/2006/main">
            <a:r>
              <a:t>Skills来源src/GlobalSkillsSettings.tsx importFolder/installGithub、Pi解析与宿主启用控制。不虚构应用内skill-creator按钮。MCP来源src/ConnectionsPanel.tsx、shared/mcp-connections.ts官方预设及HTTP/stdio配置、main/mcp-host.ts和main/mcp-oauth.ts。Supabase/Vercel预设是独立工具连接，未恢复退役云知识库。截图15复制自真实独立Electron profile本机MCP协议验证official-presets.png，该原测试result.json status passed，但realOAuthExecuted=false/cloudExecuted=false。截图仅证明真实表单和配置界面，不代表官方云账号已登录或操作完成。</a:t>
            </a:r>
          </a:p>
          <a:p xmlns:a="http://schemas.openxmlformats.org/drawingml/2006/main">
            <a:br/>
            <a:r>
              <a:t>截图：assets/03-model-connection-fields.png；SHA256 c33c89ed5ae3f36916aa315b548088032581dffeb6ec057cd9c938cc3d833e8f；baseline采集当前built独立Electron profile；真实添加模型表单，API密钥为空，未触发新模型测试；裁切仅放大配置字段。</a:t>
            </a:r>
          </a:p>
          <a:p xmlns:a="http://schemas.openxmlformats.org/drawingml/2006/main">
            <a:br/>
            <a:r>
              <a:t>截图：assets/05-skills-local-github.png；SHA256 ea311f363e1c062398f238e9dd1859539a1212a9ac46aca43ae760820bbfc1f4；baseline采集当前built独立Electron profile；真实添加技能表单，未安装技能到用户环境，未虚构内置Skill Creator。</a:t>
            </a:r>
          </a:p>
          <a:p xmlns:a="http://schemas.openxmlformats.org/drawingml/2006/main">
            <a:br/>
            <a:r>
              <a:t>截图：assets/15-mcp-official-presets.png；SHA256 6d97cf4879d71257614daf1b329f11ea5c032c956c2c967e6b837eba44f06fc0；真实独立Electron profile官方MCP预设表单，历史本机协议测试；未登录真实账号或调用云端。原图.test-data/mcp-ui-1791469886291/official-presets.png。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haring-network-drive.md；真实右侧详情/成果/文件与共享文件夹设置截图。SMB指向原共享目录，不复制整个目录；接收者可在Windows资源管理器看到映射盘符。2026-10-12用户反馈已经本地试验，可与别人同时编辑共享目录内原型，按用户实测更新此前未验证叙述；本代理未重复双机验收。该反馈不证明实时光标、自动合并或任意编辑器无冲突。应用仍通过ChangeSet、版本核对与共享资源锁保护提交，冲突保留草稿。会话发起成果编辑，资源视图用于查看、选择、引用和定位。</a:t>
            </a:r>
          </a:p>
          <a:p xmlns:a="http://schemas.openxmlformats.org/drawingml/2006/main">
            <a:br/>
            <a:r>
              <a:t>截图：assets/09-smb-sharing.png；SHA256 cd6b84714c9671fc1a3478cc4b4085d4ee33eac883487dff697674237d5f4e7c；真实共享管理入口；未创建共享或连接网络盘，双机未验。</a:t>
            </a:r>
          </a:p>
          <a:p xmlns:a="http://schemas.openxmlformats.org/drawingml/2006/main">
            <a:br/>
            <a:r>
              <a:t>截图：assets/11-right-source-files.png；SHA256 b4dc03a5e22f956bc2e1d41ba561d8d5834391d3f797d1fbe04f6b58d787f36a；真实合成需求文件与右侧文件栏；仅裁切侧栏，当时任务检查中。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真实任务来源assets/assets-manifest.json correctedRun及FACTS-AND-LIMITS.md：Run939fad97-92ee-488a-bdc3-dbabfd0450c8，elapsedMs268281，status succeeded，1轮自动修正，automaticReportStatus passed，businessCoverage unverified，ChangeSet f5693e6f-26fd-4e03-9afc-cdba38e45744，draftApplied false。14-prd-final-preview.png真实结束后重新打开草稿。合成预约需求，无私密用户PRD。初次错误挂载任务未产ChangeSet，不计成果成功。图与业务结果未人工替模型改写。右侧均为未来规划，不是已实现能力，未开始Tauri重构。轻量化建议：先保留Pi Node侧车适配，逐步迁移宿主；以启动、内存与体积为验收指标，不承诺未测降幅。官方资料：https://v2.tauri.app/concept/process-model/ Rust Core+WebView；https://v2.tauri.app/develop/sidecar/ 外部程序侧车；https://v2.tauri.app/learn/sidecar-nodejs/ Node侧车。迁移顺序是本项目建议。Workflow目标是复杂任务依赖、阶段验收、恢复，与Pi自主工具循环结合。协同先项目/文件级编辑状态、占用提示和冲突差异合并确认，不声称已实现实时字符级多人编辑。用户共享目录内同时编辑原型实测见第4页。</a:t>
            </a:r>
          </a:p>
          <a:p xmlns:a="http://schemas.openxmlformats.org/drawingml/2006/main">
            <a:br/>
            <a:r>
              <a:t>截图：assets/14-prd-final-preview.png；SHA256 bd975890159253b6b8a0f35c8d805824d47522e07afa21085ff3dfa8d54f76df；真实最终草稿与任务状态，自动检查passed、业务覆盖unverified，草稿未应用；裁切放大上半部。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03847482e14a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53264e65b4f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57e6efa904b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a3447298b4b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97b6eaedc46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1e61cc6b3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610B12-79D4-4400-B588-1D13CB508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36EB4F-57B1-4D02-A9A4-FB08B83840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7F73608-3487-43CF-BBE2-7E6B28409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17A22D-802E-4027-8B65-0D6F239DD3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582A14-B0B9-421A-9272-28DADE8CFB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DDF9F9-7A1B-4C1D-9BB0-E05C35067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D29EA6-3B50-4407-9398-9DFBFB22B9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51F0B7-C490-4CF8-823C-A329EBDF0D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B69EF0-D6F3-4CB3-A3EF-66AFC8CE7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C67229-02DF-4188-BC96-3A392142C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631fddbc94a20" /><Relationship Type="http://schemas.openxmlformats.org/officeDocument/2006/relationships/slideLayout" Target="/ppt/slideLayouts/slideLayout1.xml" Id="Rf2eb5662d40d4ace" /><Relationship Type="http://schemas.openxmlformats.org/officeDocument/2006/relationships/slideLayout" Target="/ppt/slideLayouts/slideLayout2.xml" Id="R4b8a15bd7b954ea8" /><Relationship Type="http://schemas.openxmlformats.org/officeDocument/2006/relationships/slideLayout" Target="/ppt/slideLayouts/slideLayout3.xml" Id="R7cf88367bae44213" /><Relationship Type="http://schemas.openxmlformats.org/officeDocument/2006/relationships/slideLayout" Target="/ppt/slideLayouts/slideLayout4.xml" Id="Rc58131008c854ced" /><Relationship Type="http://schemas.openxmlformats.org/officeDocument/2006/relationships/slideLayout" Target="/ppt/slideLayouts/slideLayout5.xml" Id="R7964aa7880e14da8" /><Relationship Type="http://schemas.openxmlformats.org/officeDocument/2006/relationships/slideLayout" Target="/ppt/slideLayouts/slideLayout6.xml" Id="R980360255db344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b5662d40d4ace"/>
    <p:sldLayoutId xmlns:r="http://schemas.openxmlformats.org/officeDocument/2006/relationships" id="2147483650" r:id="R4b8a15bd7b954ea8"/>
    <p:sldLayoutId xmlns:r="http://schemas.openxmlformats.org/officeDocument/2006/relationships" id="2147483651" r:id="R7cf88367bae44213"/>
    <p:sldLayoutId xmlns:r="http://schemas.openxmlformats.org/officeDocument/2006/relationships" id="2147483652" r:id="Rc58131008c854ced"/>
    <p:sldLayoutId xmlns:r="http://schemas.openxmlformats.org/officeDocument/2006/relationships" id="2147483653" r:id="R7964aa7880e14da8"/>
    <p:sldLayoutId xmlns:r="http://schemas.openxmlformats.org/officeDocument/2006/relationships" id="2147483654" r:id="R980360255db344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fc163322448b5" /><Relationship Type="http://schemas.openxmlformats.org/officeDocument/2006/relationships/notesSlide" Target="/ppt/notesSlides/notesSlide1.xml" Id="R35fbeddaf5fe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21933549a434e" /><Relationship Type="http://schemas.openxmlformats.org/officeDocument/2006/relationships/image" Target="/ppt/media/image.png" Id="R119b0b7815b94f47" /><Relationship Type="http://schemas.openxmlformats.org/officeDocument/2006/relationships/notesSlide" Target="/ppt/notesSlides/notesSlide2.xml" Id="Rc54a1780bea8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8b27cd1dc415f" /><Relationship Type="http://schemas.openxmlformats.org/officeDocument/2006/relationships/image" Target="/ppt/media/image2.png" Id="R2ed2ca041bc74c36" /><Relationship Type="http://schemas.openxmlformats.org/officeDocument/2006/relationships/image" Target="/ppt/media/image3.png" Id="Rd065d104bb214649" /><Relationship Type="http://schemas.openxmlformats.org/officeDocument/2006/relationships/image" Target="/ppt/media/image4.png" Id="Rc4f713eef2ee48b2" /><Relationship Type="http://schemas.openxmlformats.org/officeDocument/2006/relationships/notesSlide" Target="/ppt/notesSlides/notesSlide3.xml" Id="R4ab7d91af2c54b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509a5dbf4549f3" /><Relationship Type="http://schemas.openxmlformats.org/officeDocument/2006/relationships/image" Target="/ppt/media/image5.png" Id="R9d6e1f00d9514822" /><Relationship Type="http://schemas.openxmlformats.org/officeDocument/2006/relationships/image" Target="/ppt/media/image6.png" Id="R68622339f0154a0b" /><Relationship Type="http://schemas.openxmlformats.org/officeDocument/2006/relationships/notesSlide" Target="/ppt/notesSlides/notesSlide4.xml" Id="R34e2a24ae9a041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ee38c841a43d0" /><Relationship Type="http://schemas.openxmlformats.org/officeDocument/2006/relationships/image" Target="/ppt/media/image7.png" Id="R5bb646e48f0c4199" /><Relationship Type="http://schemas.openxmlformats.org/officeDocument/2006/relationships/notesSlide" Target="/ppt/notesSlides/notesSlide5.xml" Id="R6e56302c4796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ash">
            <a:extLst xmlns:a="http://schemas.openxmlformats.org/drawingml/2006/main">
              <a:ext uri="{FF2B5EF4-FFF2-40B4-BE49-F238E27FC236}">
                <a16:creationId xmlns:a16="http://schemas.microsoft.com/office/drawing/2014/main" id="{F2C9E1D4-56F6-4D11-8992-414C2996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Slash Agent 架构">
            <a:extLst xmlns:a="http://schemas.openxmlformats.org/drawingml/2006/main">
              <a:ext uri="{FF2B5EF4-FFF2-40B4-BE49-F238E27FC236}">
                <a16:creationId xmlns:a16="http://schemas.microsoft.com/office/drawing/2014/main" id="{27578F47-41A0-4B80-83DE-12C4553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Slash Agent 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70695-F1C9-4D06-BB11-8D6E1A1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E7F8E065-7294-4A2A-A4C1-14CF90A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1 / 05">
            <a:extLst xmlns:a="http://schemas.openxmlformats.org/drawingml/2006/main">
              <a:ext uri="{FF2B5EF4-FFF2-40B4-BE49-F238E27FC236}">
                <a16:creationId xmlns:a16="http://schemas.microsoft.com/office/drawing/2014/main" id="{82AFD678-4453-4DCA-A488-38ACD0C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01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7DE1B-9721-4C29-87E9-A396B3BB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7429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5E3F"/>
          </a:solidFill>
          <a:ln xmlns:a="http://schemas.openxmlformats.org/drawingml/2006/main" w="0">
            <a:noFill/>
          </a:ln>
        </p:spPr>
      </p:sp>
      <p:sp>
        <p:nvSpPr>
          <p:cNvPr id="7" name="本机 Electron 桌面应用">
            <a:extLst xmlns:a="http://schemas.openxmlformats.org/drawingml/2006/main">
              <a:ext uri="{FF2B5EF4-FFF2-40B4-BE49-F238E27FC236}">
                <a16:creationId xmlns:a16="http://schemas.microsoft.com/office/drawing/2014/main" id="{0137635C-47A2-447A-A566-2A680F8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712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本机 Electron 桌面应用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63FEF-65DB-4F9A-BBB6-0B0E3C7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7124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9" name="React 交互层">
            <a:extLst xmlns:a="http://schemas.openxmlformats.org/drawingml/2006/main">
              <a:ext uri="{FF2B5EF4-FFF2-40B4-BE49-F238E27FC236}">
                <a16:creationId xmlns:a16="http://schemas.microsoft.com/office/drawing/2014/main" id="{4D4072AF-FE46-465E-AB4B-A16A367F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React 交互层</a:t>
            </a:r>
          </a:p>
        </p:txBody>
      </p:sp>
      <p:sp>
        <p:nvSpPr>
          <p:cNvPr id="10" name="会话与 Plan / Build     资料与成果     模型 /">
            <a:extLst xmlns:a="http://schemas.openxmlformats.org/drawingml/2006/main">
              <a:ext uri="{FF2B5EF4-FFF2-40B4-BE49-F238E27FC236}">
                <a16:creationId xmlns:a16="http://schemas.microsoft.com/office/drawing/2014/main" id="{BDA25F7F-D3DC-436B-A50D-68B8AB5E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会话与 Plan / Build     资料与成果     模型 / Skills / 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B19D3-6511-47E9-B376-4C7E0E41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2" name="Preload · 类型化 IPC">
            <a:extLst xmlns:a="http://schemas.openxmlformats.org/drawingml/2006/main">
              <a:ext uri="{FF2B5EF4-FFF2-40B4-BE49-F238E27FC236}">
                <a16:creationId xmlns:a16="http://schemas.microsoft.com/office/drawing/2014/main" id="{208B26FE-7520-48FB-A16E-53F85586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Preload · 类型化 IPC</a:t>
            </a:r>
          </a:p>
        </p:txBody>
      </p:sp>
      <p:sp>
        <p:nvSpPr>
          <p:cNvPr id="13" name="请求、响应与事件">
            <a:extLst xmlns:a="http://schemas.openxmlformats.org/drawingml/2006/main">
              <a:ext uri="{FF2B5EF4-FFF2-40B4-BE49-F238E27FC236}">
                <a16:creationId xmlns:a16="http://schemas.microsoft.com/office/drawing/2014/main" id="{D2DB2F17-EFC2-48CE-B681-8F97D7A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请求、响应与事件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D0F70-406D-4556-954E-67EDD181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7429500" cy="284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5" name="主进程 · 本地业务服务与 Agent">
            <a:extLst xmlns:a="http://schemas.openxmlformats.org/drawingml/2006/main">
              <a:ext uri="{FF2B5EF4-FFF2-40B4-BE49-F238E27FC236}">
                <a16:creationId xmlns:a16="http://schemas.microsoft.com/office/drawing/2014/main" id="{DD223F44-F99F-440C-9D5F-41DFD7A4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71342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主进程 · 本地业务服务与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CB697-1C2F-41F8-8086-BECD098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327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17" name="任务编排 Service">
            <a:extLst xmlns:a="http://schemas.openxmlformats.org/drawingml/2006/main">
              <a:ext uri="{FF2B5EF4-FFF2-40B4-BE49-F238E27FC236}">
                <a16:creationId xmlns:a16="http://schemas.microsoft.com/office/drawing/2014/main" id="{54A86413-2644-4B8E-8A53-388C0473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任务编排 Service</a:t>
            </a:r>
          </a:p>
        </p:txBody>
      </p:sp>
      <p:sp>
        <p:nvSpPr>
          <p:cNvPr id="18" name="Run 状态、恢复、模型路由">
            <a:extLst xmlns:a="http://schemas.openxmlformats.org/drawingml/2006/main">
              <a:ext uri="{FF2B5EF4-FFF2-40B4-BE49-F238E27FC236}">
                <a16:creationId xmlns:a16="http://schemas.microsoft.com/office/drawing/2014/main" id="{7353FDD9-B0DA-49F2-B673-3E754D1E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Run 状态、恢复、模型路由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3D5D3-A5CF-41E7-B4DE-4B60BDAE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57625"/>
            <a:ext cx="3638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0" name="上下文与资料">
            <a:extLst xmlns:a="http://schemas.openxmlformats.org/drawingml/2006/main">
              <a:ext uri="{FF2B5EF4-FFF2-40B4-BE49-F238E27FC236}">
                <a16:creationId xmlns:a16="http://schemas.microsoft.com/office/drawing/2014/main" id="{924F4B3F-80F2-4EED-B02F-6B66415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33825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上下文与资料</a:t>
            </a:r>
          </a:p>
        </p:txBody>
      </p:sp>
      <p:sp>
        <p:nvSpPr>
          <p:cNvPr id="21" name="规则、Skills、引用、工作记忆">
            <a:extLst xmlns:a="http://schemas.openxmlformats.org/drawingml/2006/main">
              <a:ext uri="{FF2B5EF4-FFF2-40B4-BE49-F238E27FC236}">
                <a16:creationId xmlns:a16="http://schemas.microsoft.com/office/drawing/2014/main" id="{F8D4E0B4-9BF3-4EB5-8EC0-1C29982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规则、Skills、引用、工作记忆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2C466-E550-4207-9386-20FE078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00575"/>
            <a:ext cx="4333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A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3" name="Pi Agent Runtime">
            <a:extLst xmlns:a="http://schemas.openxmlformats.org/drawingml/2006/main">
              <a:ext uri="{FF2B5EF4-FFF2-40B4-BE49-F238E27FC236}">
                <a16:creationId xmlns:a16="http://schemas.microsoft.com/office/drawing/2014/main" id="{FF863E01-6D64-499A-AEAA-35C0D266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410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76F68"/>
                </a:solidFill>
                <a:latin typeface="Microsoft YaHei"/>
                <a:ea typeface="Microsoft YaHei"/>
                <a:cs typeface="Microsoft YaHei"/>
              </a:rPr>
              <a:t>Pi Agent Runtime</a:t>
            </a:r>
          </a:p>
        </p:txBody>
      </p:sp>
      <p:sp>
        <p:nvSpPr>
          <p:cNvPr id="24" name="推理与工具循环、会话、压缩">
            <a:extLst xmlns:a="http://schemas.openxmlformats.org/drawingml/2006/main">
              <a:ext uri="{FF2B5EF4-FFF2-40B4-BE49-F238E27FC236}">
                <a16:creationId xmlns:a16="http://schemas.microsoft.com/office/drawing/2014/main" id="{EE92645A-D1CA-42B8-8E50-5328E02B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62525"/>
            <a:ext cx="41052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推理与工具循环、会话、压缩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8388A-0E65-4331-8FA2-1170EAE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1676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6" name="只读子 Agent">
            <a:extLst xmlns:a="http://schemas.openxmlformats.org/drawingml/2006/main">
              <a:ext uri="{FF2B5EF4-FFF2-40B4-BE49-F238E27FC236}">
                <a16:creationId xmlns:a16="http://schemas.microsoft.com/office/drawing/2014/main" id="{1767A6F8-7210-438A-A172-E88C76BB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只读子 Agent</a:t>
            </a:r>
          </a:p>
        </p:txBody>
      </p:sp>
      <p:sp>
        <p:nvSpPr>
          <p:cNvPr id="27" name="研究与检查">
            <a:extLst xmlns:a="http://schemas.openxmlformats.org/drawingml/2006/main">
              <a:ext uri="{FF2B5EF4-FFF2-40B4-BE49-F238E27FC236}">
                <a16:creationId xmlns:a16="http://schemas.microsoft.com/office/drawing/2014/main" id="{30687138-12A4-4271-A7BE-9F7C246C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62525"/>
            <a:ext cx="144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研究与检查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23263-AC79-4205-ACE6-5CE4588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3276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29" name="工具网关与适配">
            <a:extLst xmlns:a="http://schemas.openxmlformats.org/drawingml/2006/main">
              <a:ext uri="{FF2B5EF4-FFF2-40B4-BE49-F238E27FC236}">
                <a16:creationId xmlns:a16="http://schemas.microsoft.com/office/drawing/2014/main" id="{ADC57616-465D-4F84-80CC-3112A821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工具网关与适配</a:t>
            </a:r>
          </a:p>
        </p:txBody>
      </p:sp>
      <p:sp>
        <p:nvSpPr>
          <p:cNvPr id="30" name="权限、按需工具、MCP / CLI">
            <a:extLst xmlns:a="http://schemas.openxmlformats.org/drawingml/2006/main">
              <a:ext uri="{FF2B5EF4-FFF2-40B4-BE49-F238E27FC236}">
                <a16:creationId xmlns:a16="http://schemas.microsoft.com/office/drawing/2014/main" id="{7C87BDFD-0548-4D59-8AEF-5822610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权限、按需工具、MCP / CLI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57FDB-94A4-4521-B714-D39448A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67350"/>
            <a:ext cx="36385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B"/>
            </a:solidFill>
          </a:ln>
        </p:spPr>
      </p:sp>
      <p:sp>
        <p:nvSpPr>
          <p:cNvPr id="32" name="质量与交付">
            <a:extLst xmlns:a="http://schemas.openxmlformats.org/drawingml/2006/main">
              <a:ext uri="{FF2B5EF4-FFF2-40B4-BE49-F238E27FC236}">
                <a16:creationId xmlns:a16="http://schemas.microsoft.com/office/drawing/2014/main" id="{0BCC7E9F-43BB-41EC-B4CA-BDE45C1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3409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质量与交付</a:t>
            </a:r>
          </a:p>
        </p:txBody>
      </p:sp>
      <p:sp>
        <p:nvSpPr>
          <p:cNvPr id="33" name="草稿、版本、检查、确认应用">
            <a:extLst xmlns:a="http://schemas.openxmlformats.org/drawingml/2006/main">
              <a:ext uri="{FF2B5EF4-FFF2-40B4-BE49-F238E27FC236}">
                <a16:creationId xmlns:a16="http://schemas.microsoft.com/office/drawing/2014/main" id="{3572EA1E-D737-489F-8216-79F358D0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29300"/>
            <a:ext cx="3409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草稿、版本、检查、确认应用</a:t>
            </a:r>
          </a:p>
        </p:txBody>
      </p:sp>
      <p:sp>
        <p:nvSpPr>
          <p:cNvPr id="34" name="本地：SQLite / 项目文件 / 会话历史    外部：模型 AP">
            <a:extLst xmlns:a="http://schemas.openxmlformats.org/drawingml/2006/main">
              <a:ext uri="{FF2B5EF4-FFF2-40B4-BE49-F238E27FC236}">
                <a16:creationId xmlns:a16="http://schemas.microsoft.com/office/drawing/2014/main" id="{AF4D9EE9-7BE8-4D7F-8DC3-D187E297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712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本地：SQLite / 项目文件 / 会话历史    外部：模型 API / MCP / SMB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E5D780-DF5E-42C6-BF85-9B6FCD6C87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81475" y="26289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3619C-C314-4769-A163-D70A045EEB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81475" y="33337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2B954F-0260-4BDE-8E47-BA8416DF14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86000" y="44481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10FDE9-D027-43DF-877A-DD94A10654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34000" y="44481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8C0C0-D390-4075-A180-31BF50EFEF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34075" y="49149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22BBE5-8296-426B-9601-ED7014EB73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86000" y="52387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headEnd type="triangle" w="sm" len="sm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9F6B3D-A74B-438A-8559-A493604BC9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24300" y="57626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F24D2B-D9D2-4460-9562-D7D777E30B1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48375" y="53530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D7C589-D3A7-4821-ABDD-C92F3D10881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334000" y="53530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39D4DF-4966-4F09-9190-EE80E580553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34000" y="52387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76F68"/>
            </a:solidFill>
            <a:tailEnd type="triangle" w="sm" len="sm"/>
          </a:ln>
        </p:spPr>
      </p:cxnSp>
      <p:sp>
        <p:nvSpPr>
          <p:cNvPr id="45" name="Pi 集成的优势">
            <a:extLst xmlns:a="http://schemas.openxmlformats.org/drawingml/2006/main">
              <a:ext uri="{FF2B5EF4-FFF2-40B4-BE49-F238E27FC236}">
                <a16:creationId xmlns:a16="http://schemas.microsoft.com/office/drawing/2014/main" id="{BBB88E71-6947-4B84-BD47-8F01CF59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Pi 集成的优势</a:t>
            </a:r>
          </a:p>
        </p:txBody>
      </p:sp>
      <p:sp>
        <p:nvSpPr>
          <p:cNvPr id="46" name="复用模型接入与工具循环，&#10;由 Pi 管理会话与上下文。&#10;Slash 补">
            <a:extLst xmlns:a="http://schemas.openxmlformats.org/drawingml/2006/main">
              <a:ext uri="{FF2B5EF4-FFF2-40B4-BE49-F238E27FC236}">
                <a16:creationId xmlns:a16="http://schemas.microsoft.com/office/drawing/2014/main" id="{6DDAA44F-2EC0-4064-943D-2ED6E2F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40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复用模型接入与工具循环，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由 Pi 管理会话与上下文。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Slash 补齐权限和版本交付。</a:t>
            </a:r>
          </a:p>
        </p:txBody>
      </p:sp>
      <p:sp>
        <p:nvSpPr>
          <p:cNvPr id="47" name="Agent Loop 与 Workflow">
            <a:extLst xmlns:a="http://schemas.openxmlformats.org/drawingml/2006/main">
              <a:ext uri="{FF2B5EF4-FFF2-40B4-BE49-F238E27FC236}">
                <a16:creationId xmlns:a16="http://schemas.microsoft.com/office/drawing/2014/main" id="{4B0BF573-FE52-40C0-AF53-909E599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Agent Loop 与 Workflow</a:t>
            </a:r>
          </a:p>
        </p:txBody>
      </p:sp>
      <p:sp>
        <p:nvSpPr>
          <p:cNvPr id="48" name="Workflow 核对来源与任务边界。&#10;Pi 自主选择工具并连续执行。">
            <a:extLst xmlns:a="http://schemas.openxmlformats.org/drawingml/2006/main">
              <a:ext uri="{FF2B5EF4-FFF2-40B4-BE49-F238E27FC236}">
                <a16:creationId xmlns:a16="http://schemas.microsoft.com/office/drawing/2014/main" id="{F1220588-64DB-493A-A63F-20F02E2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409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Workflow 核对来源与任务边界。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 自主选择工具并连续执行。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宿主检查、有限修正后确认应用。</a:t>
            </a:r>
          </a:p>
        </p:txBody>
      </p:sp>
      <p:sp>
        <p:nvSpPr>
          <p:cNvPr id="49" name="采用的 Pi Packages">
            <a:extLst xmlns:a="http://schemas.openxmlformats.org/drawingml/2006/main">
              <a:ext uri="{FF2B5EF4-FFF2-40B4-BE49-F238E27FC236}">
                <a16:creationId xmlns:a16="http://schemas.microsoft.com/office/drawing/2014/main" id="{0773CD34-9A3A-4ACE-AB1E-308F0A99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0060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采用的 Pi Packages</a:t>
            </a:r>
          </a:p>
        </p:txBody>
      </p:sp>
      <p:sp>
        <p:nvSpPr>
          <p:cNvPr id="50" name="pi-web-access  网页研究&#10;pi-mcp-adapter ">
            <a:extLst xmlns:a="http://schemas.openxmlformats.org/drawingml/2006/main">
              <a:ext uri="{FF2B5EF4-FFF2-40B4-BE49-F238E27FC236}">
                <a16:creationId xmlns:a16="http://schemas.microsoft.com/office/drawing/2014/main" id="{74B60DE9-1B52-4917-BAB2-615ACA0C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0175"/>
            <a:ext cx="340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pi-web-access  网页研究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pi-mcp-adapter  外部工具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pi-subagents  只读研究与检查</a:t>
            </a:r>
          </a:p>
          <a:p xmlns:a="http://schemas.openxmlformats.org/drawingml/2006/main">
            <a:pPr>
              <a:def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pi-memory  项目候选备忘</a:t>
            </a:r>
          </a:p>
        </p:txBody>
      </p:sp>
    </p:spTree>
    <p:extLst>
      <p:ext uri="{BB962C8B-B14F-4D97-AF65-F5344CB8AC3E}">
        <p14:creationId xmlns:p14="http://schemas.microsoft.com/office/powerpoint/2010/main" val="976922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B4A00-4EE0-42C8-88C0-D88B744E3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b0b7815b94f47"/>
          <a:stretch xmlns:a="http://schemas.openxmlformats.org/drawingml/2006/main"/>
        </p:blipFill>
        <p:spPr>
          <a:xfrm xmlns:a="http://schemas.openxmlformats.org/drawingml/2006/main">
            <a:off x="76200" y="41062"/>
            <a:ext cx="12039600" cy="677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17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ash">
            <a:extLst xmlns:a="http://schemas.openxmlformats.org/drawingml/2006/main">
              <a:ext uri="{FF2B5EF4-FFF2-40B4-BE49-F238E27FC236}">
                <a16:creationId xmlns:a16="http://schemas.microsoft.com/office/drawing/2014/main" id="{52BAC3B1-2CF7-4802-ABAE-F6442D1D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模型、Skills 与 MCP 接入">
            <a:extLst xmlns:a="http://schemas.openxmlformats.org/drawingml/2006/main">
              <a:ext uri="{FF2B5EF4-FFF2-40B4-BE49-F238E27FC236}">
                <a16:creationId xmlns:a16="http://schemas.microsoft.com/office/drawing/2014/main" id="{B32FD63F-2833-4CF8-82E8-DD2CA7D9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模型、Skills 与 MCP 接入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B7E0B-747E-452A-9F04-01173E1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2607B12A-5D40-48B5-B063-4D465AD5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3 / 05">
            <a:extLst xmlns:a="http://schemas.openxmlformats.org/drawingml/2006/main">
              <a:ext uri="{FF2B5EF4-FFF2-40B4-BE49-F238E27FC236}">
                <a16:creationId xmlns:a16="http://schemas.microsoft.com/office/drawing/2014/main" id="{EEC8BBA3-1204-43D6-B3C2-8847B11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03 / 05</a:t>
            </a:r>
          </a:p>
        </p:txBody>
      </p:sp>
      <p:sp>
        <p:nvSpPr>
          <p:cNvPr id="6" name="模型接入">
            <a:extLst xmlns:a="http://schemas.openxmlformats.org/drawingml/2006/main">
              <a:ext uri="{FF2B5EF4-FFF2-40B4-BE49-F238E27FC236}">
                <a16:creationId xmlns:a16="http://schemas.microsoft.com/office/drawing/2014/main" id="{D5B1D7EA-D957-4A04-A5C0-503E0CE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模型接入</a:t>
            </a:r>
          </a:p>
        </p:txBody>
      </p:sp>
      <p:sp>
        <p:nvSpPr>
          <p:cNvPr id="7" name="Skills 工作方法">
            <a:extLst xmlns:a="http://schemas.openxmlformats.org/drawingml/2006/main">
              <a:ext uri="{FF2B5EF4-FFF2-40B4-BE49-F238E27FC236}">
                <a16:creationId xmlns:a16="http://schemas.microsoft.com/office/drawing/2014/main" id="{31AE4ED3-6C71-4AD4-87F2-93DD0AB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Skills 工作方法</a:t>
            </a:r>
          </a:p>
        </p:txBody>
      </p:sp>
      <p:sp>
        <p:nvSpPr>
          <p:cNvPr id="8" name="MCP 外部工具">
            <a:extLst xmlns:a="http://schemas.openxmlformats.org/drawingml/2006/main">
              <a:ext uri="{FF2B5EF4-FFF2-40B4-BE49-F238E27FC236}">
                <a16:creationId xmlns:a16="http://schemas.microsoft.com/office/drawing/2014/main" id="{8EAB7F10-AD8C-4391-89AE-190031CB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04950"/>
            <a:ext cx="354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MCP 外部工具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14802-F654-4DC4-9770-7B86E184E4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2ca041bc74c36"/>
          <a:srcRect xmlns:a="http://schemas.openxmlformats.org/drawingml/2006/main" l="28000" t="25700" r="28000" b="39000"/>
          <a:stretch xmlns:a="http://schemas.openxmlformats.org/drawingml/2006/main"/>
        </p:blipFill>
        <p:spPr>
          <a:xfrm xmlns:a="http://schemas.openxmlformats.org/drawingml/2006/main">
            <a:off x="495300" y="2038350"/>
            <a:ext cx="3543300" cy="181927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DC5AD-1AD9-43D4-B798-DEB6F057C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5d104bb214649"/>
          <a:srcRect xmlns:a="http://schemas.openxmlformats.org/drawingml/2006/main" l="29140" t="41670" r="53690" b="40000"/>
          <a:stretch xmlns:a="http://schemas.openxmlformats.org/drawingml/2006/main"/>
        </p:blipFill>
        <p:spPr>
          <a:xfrm xmlns:a="http://schemas.openxmlformats.org/drawingml/2006/main">
            <a:off x="4324350" y="2038350"/>
            <a:ext cx="3543300" cy="18192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22CC9-44A9-4411-942C-0170A28C8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713eef2ee48b2"/>
          <a:srcRect xmlns:a="http://schemas.openxmlformats.org/drawingml/2006/main" l="28500" t="24800" r="29200" b="36300"/>
          <a:stretch xmlns:a="http://schemas.openxmlformats.org/drawingml/2006/main"/>
        </p:blipFill>
        <p:spPr>
          <a:xfrm xmlns:a="http://schemas.openxmlformats.org/drawingml/2006/main">
            <a:off x="8153400" y="2038350"/>
            <a:ext cx="3543300" cy="1819275"/>
          </a:xfrm>
          <a:prstGeom xmlns:a="http://schemas.openxmlformats.org/drawingml/2006/main" prst="rect">
            <a:avLst/>
          </a:prstGeom>
        </p:spPr>
      </p:pic>
      <p:sp>
        <p:nvSpPr>
          <p:cNvPr id="12" name="官方 API、第三方与兼容中转">
            <a:extLst xmlns:a="http://schemas.openxmlformats.org/drawingml/2006/main">
              <a:ext uri="{FF2B5EF4-FFF2-40B4-BE49-F238E27FC236}">
                <a16:creationId xmlns:a16="http://schemas.microsoft.com/office/drawing/2014/main" id="{3B7F88AE-AF4A-41B3-AE48-26B83AAC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官方 API、第三方与兼容中转</a:t>
            </a:r>
          </a:p>
        </p:txBody>
      </p:sp>
      <p:sp>
        <p:nvSpPr>
          <p:cNvPr id="13" name="OpenAI Responses&#10;OpenAI Chat Comple">
            <a:extLst xmlns:a="http://schemas.openxmlformats.org/drawingml/2006/main">
              <a:ext uri="{FF2B5EF4-FFF2-40B4-BE49-F238E27FC236}">
                <a16:creationId xmlns:a16="http://schemas.microsoft.com/office/drawing/2014/main" id="{6439C066-41B2-4855-9958-C2AC50D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3543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OpenAI Responses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OpenAI Chat Completions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Anthropic Messages</a:t>
            </a:r>
          </a:p>
        </p:txBody>
      </p:sp>
      <p:sp>
        <p:nvSpPr>
          <p:cNvPr id="14" name="API 地址、密钥与模型 ID">
            <a:extLst xmlns:a="http://schemas.openxmlformats.org/drawingml/2006/main">
              <a:ext uri="{FF2B5EF4-FFF2-40B4-BE49-F238E27FC236}">
                <a16:creationId xmlns:a16="http://schemas.microsoft.com/office/drawing/2014/main" id="{4A0DF30F-0FCD-4486-A531-C705BD77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API 地址、密钥与模型 ID</a:t>
            </a:r>
          </a:p>
        </p:txBody>
      </p:sp>
      <p:sp>
        <p:nvSpPr>
          <p:cNvPr id="15" name="待接入：官方订阅登录、&#10;上游完整模型列表">
            <a:extLst xmlns:a="http://schemas.openxmlformats.org/drawingml/2006/main">
              <a:ext uri="{FF2B5EF4-FFF2-40B4-BE49-F238E27FC236}">
                <a16:creationId xmlns:a16="http://schemas.microsoft.com/office/drawing/2014/main" id="{14B5C417-7A5B-45EF-B14B-2B8E7B2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38825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待接入：官方订阅登录、</a:t>
            </a:r>
          </a:p>
          <a:p xmlns:a="http://schemas.openxmlformats.org/drawingml/2006/main">
            <a:pPr>
              <a:defRPr sz="15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上游完整模型列表</a:t>
            </a:r>
          </a:p>
        </p:txBody>
      </p:sp>
      <p:sp>
        <p:nvSpPr>
          <p:cNvPr id="16" name="本地文件夹或 GitHub 导入">
            <a:extLst xmlns:a="http://schemas.openxmlformats.org/drawingml/2006/main">
              <a:ext uri="{FF2B5EF4-FFF2-40B4-BE49-F238E27FC236}">
                <a16:creationId xmlns:a16="http://schemas.microsoft.com/office/drawing/2014/main" id="{C1BD45D8-7DBE-4C51-997E-90ADD00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本地文件夹或 GitHub 导入</a:t>
            </a:r>
          </a:p>
        </p:txBody>
      </p:sp>
      <p:sp>
        <p:nvSpPr>
          <p:cNvPr id="17" name="包含 SKILL.md 的技能包">
            <a:extLst xmlns:a="http://schemas.openxmlformats.org/drawingml/2006/main">
              <a:ext uri="{FF2B5EF4-FFF2-40B4-BE49-F238E27FC236}">
                <a16:creationId xmlns:a16="http://schemas.microsoft.com/office/drawing/2014/main" id="{295F5C0B-14C0-4E61-A21B-2ED5C7FE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81525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包含 SKILL.md 的技能包</a:t>
            </a:r>
          </a:p>
        </p:txBody>
      </p:sp>
      <p:sp>
        <p:nvSpPr>
          <p:cNvPr id="18" name="按需启用，在会话中调用">
            <a:extLst xmlns:a="http://schemas.openxmlformats.org/drawingml/2006/main">
              <a:ext uri="{FF2B5EF4-FFF2-40B4-BE49-F238E27FC236}">
                <a16:creationId xmlns:a16="http://schemas.microsoft.com/office/drawing/2014/main" id="{83F71336-99BD-4BB0-86C5-932FC85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95875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按需启用，在会话中调用</a:t>
            </a:r>
          </a:p>
        </p:txBody>
      </p:sp>
      <p:sp>
        <p:nvSpPr>
          <p:cNvPr id="19" name="预设：Vercel、Supabase&#10;官方 MCP">
            <a:extLst xmlns:a="http://schemas.openxmlformats.org/drawingml/2006/main">
              <a:ext uri="{FF2B5EF4-FFF2-40B4-BE49-F238E27FC236}">
                <a16:creationId xmlns:a16="http://schemas.microsoft.com/office/drawing/2014/main" id="{92ACD258-A03C-46C9-85C0-66C1124D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3543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预设：Vercel、Supabase</a:t>
            </a:r>
          </a:p>
          <a:p xmlns:a="http://schemas.openxmlformats.org/drawingml/2006/main">
            <a:pPr>
              <a:def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官方 MCP</a:t>
            </a:r>
          </a:p>
        </p:txBody>
      </p:sp>
      <p:sp>
        <p:nvSpPr>
          <p:cNvPr id="20" name="自定义：HTTP 地址&#10;或本地 stdio 服务">
            <a:extLst xmlns:a="http://schemas.openxmlformats.org/drawingml/2006/main">
              <a:ext uri="{FF2B5EF4-FFF2-40B4-BE49-F238E27FC236}">
                <a16:creationId xmlns:a16="http://schemas.microsoft.com/office/drawing/2014/main" id="{1449F3D5-89F7-478F-83E8-96149D1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24425"/>
            <a:ext cx="3543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自定义：HTTP 地址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或本地 stdio 服务</a:t>
            </a:r>
          </a:p>
        </p:txBody>
      </p:sp>
      <p:sp>
        <p:nvSpPr>
          <p:cNvPr id="21" name="按连接配置登录与权限">
            <a:extLst xmlns:a="http://schemas.openxmlformats.org/drawingml/2006/main">
              <a:ext uri="{FF2B5EF4-FFF2-40B4-BE49-F238E27FC236}">
                <a16:creationId xmlns:a16="http://schemas.microsoft.com/office/drawing/2014/main" id="{AE8EF2C8-872C-4305-93A7-89087AB6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388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按连接配置登录与权限</a:t>
            </a:r>
          </a:p>
        </p:txBody>
      </p:sp>
    </p:spTree>
    <p:extLst>
      <p:ext uri="{BB962C8B-B14F-4D97-AF65-F5344CB8AC3E}">
        <p14:creationId xmlns:p14="http://schemas.microsoft.com/office/powerpoint/2010/main" val="2110308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ash">
            <a:extLst xmlns:a="http://schemas.openxmlformats.org/drawingml/2006/main">
              <a:ext uri="{FF2B5EF4-FFF2-40B4-BE49-F238E27FC236}">
                <a16:creationId xmlns:a16="http://schemas.microsoft.com/office/drawing/2014/main" id="{430E34C9-3C73-4D5A-B4CB-DAF8A23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右侧查看资料与成果，共享同一份原型">
            <a:extLst xmlns:a="http://schemas.openxmlformats.org/drawingml/2006/main">
              <a:ext uri="{FF2B5EF4-FFF2-40B4-BE49-F238E27FC236}">
                <a16:creationId xmlns:a16="http://schemas.microsoft.com/office/drawing/2014/main" id="{66FAC4EC-C763-4F5B-94D4-77B02C2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右侧查看资料与成果，共享同一份原型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A7AB8-11AB-42B8-89C5-AB471B99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E2F12718-3353-480F-9DA0-7CBA174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4 / 05">
            <a:extLst xmlns:a="http://schemas.openxmlformats.org/drawingml/2006/main">
              <a:ext uri="{FF2B5EF4-FFF2-40B4-BE49-F238E27FC236}">
                <a16:creationId xmlns:a16="http://schemas.microsoft.com/office/drawing/2014/main" id="{33D5D6F3-3FB9-4554-97AD-66AA3C0C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04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3F6A3-8630-4C63-8226-D68D9501D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1f00d9514822"/>
          <a:srcRect xmlns:a="http://schemas.openxmlformats.org/drawingml/2006/main" l="21400" t="13200" r="1400" b="44600"/>
          <a:stretch xmlns:a="http://schemas.openxmlformats.org/drawingml/2006/main"/>
        </p:blipFill>
        <p:spPr>
          <a:xfrm xmlns:a="http://schemas.openxmlformats.org/drawingml/2006/main">
            <a:off x="495300" y="1524000"/>
            <a:ext cx="6915150" cy="21336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1682F-E4F8-4E95-90D3-BF946CDBE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22339f0154a0b"/>
          <a:srcRect xmlns:a="http://schemas.openxmlformats.org/drawingml/2006/main" l="82300" t="5000" r="0" b="61000"/>
          <a:stretch xmlns:a="http://schemas.openxmlformats.org/drawingml/2006/main"/>
        </p:blipFill>
        <p:spPr>
          <a:xfrm xmlns:a="http://schemas.openxmlformats.org/drawingml/2006/main">
            <a:off x="8248650" y="1524000"/>
            <a:ext cx="3448050" cy="3648075"/>
          </a:xfrm>
          <a:prstGeom xmlns:a="http://schemas.openxmlformats.org/drawingml/2006/main" prst="rect">
            <a:avLst/>
          </a:prstGeom>
        </p:spPr>
      </p:pic>
      <p:sp>
        <p:nvSpPr>
          <p:cNvPr id="8" name="SMB 指向同一份共享目录">
            <a:extLst xmlns:a="http://schemas.openxmlformats.org/drawingml/2006/main">
              <a:ext uri="{FF2B5EF4-FFF2-40B4-BE49-F238E27FC236}">
                <a16:creationId xmlns:a16="http://schemas.microsoft.com/office/drawing/2014/main" id="{812452E6-FDD3-445E-8F8D-7FC0552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691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SMB 指向同一份共享目录</a:t>
            </a:r>
          </a:p>
        </p:txBody>
      </p:sp>
      <p:sp>
        <p:nvSpPr>
          <p:cNvPr id="9" name="同事通过 Windows 盘符访问，&#10;减少复制原型与人工合版。">
            <a:extLst xmlns:a="http://schemas.openxmlformats.org/drawingml/2006/main">
              <a:ext uri="{FF2B5EF4-FFF2-40B4-BE49-F238E27FC236}">
                <a16:creationId xmlns:a16="http://schemas.microsoft.com/office/drawing/2014/main" id="{390A4E47-C292-4A74-B124-DCBC7E3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691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同事通过 Windows 盘符访问，</a:t>
            </a:r>
          </a:p>
          <a:p xmlns:a="http://schemas.openxmlformats.org/drawingml/2006/main">
            <a:pPr>
              <a:def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减少复制原型与人工合版。</a:t>
            </a:r>
          </a:p>
        </p:txBody>
      </p:sp>
      <p:sp>
        <p:nvSpPr>
          <p:cNvPr id="10" name="用户实测：可与同事同时编辑共享目录内的原型。">
            <a:extLst xmlns:a="http://schemas.openxmlformats.org/drawingml/2006/main">
              <a:ext uri="{FF2B5EF4-FFF2-40B4-BE49-F238E27FC236}">
                <a16:creationId xmlns:a16="http://schemas.microsoft.com/office/drawing/2014/main" id="{04894649-AEAE-40E7-BF5F-D64E3A36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712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用户实测：可与同事同时编辑共享目录内的原型。</a:t>
            </a:r>
          </a:p>
        </p:txBody>
      </p:sp>
      <p:sp>
        <p:nvSpPr>
          <p:cNvPr id="11" name="右侧的资料与成果">
            <a:extLst xmlns:a="http://schemas.openxmlformats.org/drawingml/2006/main">
              <a:ext uri="{FF2B5EF4-FFF2-40B4-BE49-F238E27FC236}">
                <a16:creationId xmlns:a16="http://schemas.microsoft.com/office/drawing/2014/main" id="{A9E04D42-08EF-4EFB-A9FB-5D4EA8C9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43525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右侧的资料与成果</a:t>
            </a:r>
          </a:p>
        </p:txBody>
      </p:sp>
      <p:sp>
        <p:nvSpPr>
          <p:cNvPr id="12" name="查看、引用和打开文件。&#10;修改仍从会话发起。">
            <a:extLst xmlns:a="http://schemas.openxmlformats.org/drawingml/2006/main">
              <a:ext uri="{FF2B5EF4-FFF2-40B4-BE49-F238E27FC236}">
                <a16:creationId xmlns:a16="http://schemas.microsoft.com/office/drawing/2014/main" id="{694103B4-098F-4464-BBC1-14893324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24525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查看、引用和打开文件。</a:t>
            </a:r>
          </a:p>
          <a:p xmlns:a="http://schemas.openxmlformats.org/drawingml/2006/main">
            <a:pPr>
              <a:def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修改仍从会话发起。</a:t>
            </a:r>
          </a:p>
        </p:txBody>
      </p:sp>
    </p:spTree>
    <p:extLst>
      <p:ext uri="{BB962C8B-B14F-4D97-AF65-F5344CB8AC3E}">
        <p14:creationId xmlns:p14="http://schemas.microsoft.com/office/powerpoint/2010/main" val="713644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ash">
            <a:extLst xmlns:a="http://schemas.openxmlformats.org/drawingml/2006/main">
              <a:ext uri="{FF2B5EF4-FFF2-40B4-BE49-F238E27FC236}">
                <a16:creationId xmlns:a16="http://schemas.microsoft.com/office/drawing/2014/main" id="{9EE76526-AC45-4F1E-BE81-90B32FC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Slash</a:t>
            </a:r>
          </a:p>
        </p:txBody>
      </p:sp>
      <p:sp>
        <p:nvSpPr>
          <p:cNvPr id="2" name="实际任务与后续优化">
            <a:extLst xmlns:a="http://schemas.openxmlformats.org/drawingml/2006/main">
              <a:ext uri="{FF2B5EF4-FFF2-40B4-BE49-F238E27FC236}">
                <a16:creationId xmlns:a16="http://schemas.microsoft.com/office/drawing/2014/main" id="{56F4A8F3-E906-4181-8A1D-B5DBDC7A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实际任务与后续优化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B0501-06B6-4A70-8546-EF430F6E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ABB"/>
          </a:solidFill>
          <a:ln xmlns:a="http://schemas.openxmlformats.org/drawingml/2006/main" w="0">
            <a:noFill/>
          </a:ln>
        </p:spPr>
      </p:sp>
      <p:sp>
        <p:nvSpPr>
          <p:cNvPr id="4" name="产品介绍  2026.10">
            <a:extLst xmlns:a="http://schemas.openxmlformats.org/drawingml/2006/main">
              <a:ext uri="{FF2B5EF4-FFF2-40B4-BE49-F238E27FC236}">
                <a16:creationId xmlns:a16="http://schemas.microsoft.com/office/drawing/2014/main" id="{5A4C5C4F-FF97-4738-8D5E-1D83438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产品介绍  2026.10</a:t>
            </a:r>
          </a:p>
        </p:txBody>
      </p:sp>
      <p:sp>
        <p:nvSpPr>
          <p:cNvPr id="5" name="05 / 05">
            <a:extLst xmlns:a="http://schemas.openxmlformats.org/drawingml/2006/main">
              <a:ext uri="{FF2B5EF4-FFF2-40B4-BE49-F238E27FC236}">
                <a16:creationId xmlns:a16="http://schemas.microsoft.com/office/drawing/2014/main" id="{91EAA87F-A96E-407D-A876-0E4024C9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76B60"/>
                </a:solidFill>
                <a:latin typeface="Microsoft YaHei"/>
                <a:ea typeface="Microsoft YaHei"/>
                <a:cs typeface="Microsoft YaHei"/>
              </a:rPr>
              <a:t>05 / 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C3DA3-5851-49BF-8E8C-81F23728E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646e48f0c4199"/>
          <a:srcRect xmlns:a="http://schemas.openxmlformats.org/drawingml/2006/main" l="20900" t="4500" r="17300" b="38000"/>
          <a:stretch xmlns:a="http://schemas.openxmlformats.org/drawingml/2006/main"/>
        </p:blipFill>
        <p:spPr>
          <a:xfrm xmlns:a="http://schemas.openxmlformats.org/drawingml/2006/main">
            <a:off x="495300" y="1533525"/>
            <a:ext cx="6191250" cy="3171825"/>
          </a:xfrm>
          <a:prstGeom xmlns:a="http://schemas.openxmlformats.org/drawingml/2006/main" prst="rect">
            <a:avLst/>
          </a:prstGeom>
        </p:spPr>
      </p:pic>
      <p:sp>
        <p:nvSpPr>
          <p:cNvPr id="7" name="真实任务：预约管理 PRD">
            <a:extLst xmlns:a="http://schemas.openxmlformats.org/drawingml/2006/main">
              <a:ext uri="{FF2B5EF4-FFF2-40B4-BE49-F238E27FC236}">
                <a16:creationId xmlns:a16="http://schemas.microsoft.com/office/drawing/2014/main" id="{C987FF8E-50FE-4C0A-A970-5FC9EC7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真实任务：预约管理 PRD</a:t>
            </a:r>
          </a:p>
        </p:txBody>
      </p:sp>
      <p:sp>
        <p:nvSpPr>
          <p:cNvPr id="8" name="约 4 分 28 秒完成，自动修正 1 轮。&#10;自动检查通过，业务覆盖待">
            <a:extLst xmlns:a="http://schemas.openxmlformats.org/drawingml/2006/main">
              <a:ext uri="{FF2B5EF4-FFF2-40B4-BE49-F238E27FC236}">
                <a16:creationId xmlns:a16="http://schemas.microsoft.com/office/drawing/2014/main" id="{D735BB8D-7561-4E7B-A687-F5529D7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149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约 4 分 28 秒完成，自动修正 1 轮。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自动检查通过，业务覆盖待核对。</a:t>
            </a:r>
          </a:p>
          <a:p xmlns:a="http://schemas.openxmlformats.org/drawingml/2006/main">
            <a:pPr>
              <a:def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成果为待应用草稿。</a:t>
            </a:r>
          </a:p>
        </p:txBody>
      </p:sp>
      <p:sp>
        <p:nvSpPr>
          <p:cNvPr id="9" name="未来优化目标">
            <a:extLst xmlns:a="http://schemas.openxmlformats.org/drawingml/2006/main">
              <a:ext uri="{FF2B5EF4-FFF2-40B4-BE49-F238E27FC236}">
                <a16:creationId xmlns:a16="http://schemas.microsoft.com/office/drawing/2014/main" id="{8C0C921D-EEF7-4B37-B912-A59DB65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533525"/>
            <a:ext cx="4543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8C5E3F"/>
                </a:solidFill>
                <a:latin typeface="Microsoft YaHei"/>
                <a:ea typeface="Microsoft YaHei"/>
                <a:cs typeface="Microsoft YaHei"/>
              </a:rPr>
              <a:t>未来优化目标</a:t>
            </a:r>
          </a:p>
        </p:txBody>
      </p:sp>
      <p:sp>
        <p:nvSpPr>
          <p:cNvPr id="10" name="01  桌面轻量化">
            <a:extLst xmlns:a="http://schemas.openxmlformats.org/drawingml/2006/main">
              <a:ext uri="{FF2B5EF4-FFF2-40B4-BE49-F238E27FC236}">
                <a16:creationId xmlns:a16="http://schemas.microsoft.com/office/drawing/2014/main" id="{C48D08CF-CDDC-40F3-BBA2-45AFA709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01  桌面轻量化</a:t>
            </a:r>
          </a:p>
        </p:txBody>
      </p:sp>
      <p:sp>
        <p:nvSpPr>
          <p:cNvPr id="11" name="Tauri + Rust 轻量化重构，&#10;降低桌面负担，保留 Pi 能力">
            <a:extLst xmlns:a="http://schemas.openxmlformats.org/drawingml/2006/main">
              <a:ext uri="{FF2B5EF4-FFF2-40B4-BE49-F238E27FC236}">
                <a16:creationId xmlns:a16="http://schemas.microsoft.com/office/drawing/2014/main" id="{9303E902-1571-484B-AF61-9842999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460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Tauri + Rust 轻量化重构，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降低桌面负担，保留 Pi 能力。</a:t>
            </a:r>
          </a:p>
        </p:txBody>
      </p:sp>
      <p:sp>
        <p:nvSpPr>
          <p:cNvPr id="12" name="02  复杂任务 Workflow">
            <a:extLst xmlns:a="http://schemas.openxmlformats.org/drawingml/2006/main">
              <a:ext uri="{FF2B5EF4-FFF2-40B4-BE49-F238E27FC236}">
                <a16:creationId xmlns:a16="http://schemas.microsoft.com/office/drawing/2014/main" id="{9188E72A-B431-4F0E-B285-B1DC6B71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6710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02  复杂任务 Workflow</a:t>
            </a:r>
          </a:p>
        </p:txBody>
      </p:sp>
      <p:sp>
        <p:nvSpPr>
          <p:cNvPr id="13" name="完善任务依赖、阶段验收和失败恢复。&#10;当前复杂项目编排仍未达到生产级。">
            <a:extLst xmlns:a="http://schemas.openxmlformats.org/drawingml/2006/main">
              <a:ext uri="{FF2B5EF4-FFF2-40B4-BE49-F238E27FC236}">
                <a16:creationId xmlns:a16="http://schemas.microsoft.com/office/drawing/2014/main" id="{FC87A6B3-7A09-4FD9-A71B-65F84B71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05250"/>
            <a:ext cx="4543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完善任务依赖、阶段验收和失败恢复。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当前复杂项目编排仍未达到生产级。</a:t>
            </a:r>
          </a:p>
        </p:txBody>
      </p:sp>
      <p:sp>
        <p:nvSpPr>
          <p:cNvPr id="14" name="03  协同工作方案">
            <a:extLst xmlns:a="http://schemas.openxmlformats.org/drawingml/2006/main">
              <a:ext uri="{FF2B5EF4-FFF2-40B4-BE49-F238E27FC236}">
                <a16:creationId xmlns:a16="http://schemas.microsoft.com/office/drawing/2014/main" id="{8608D562-1772-4A6C-9F29-2453DE4C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57750"/>
            <a:ext cx="4543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03  协同工作方案</a:t>
            </a:r>
          </a:p>
        </p:txBody>
      </p:sp>
      <p:sp>
        <p:nvSpPr>
          <p:cNvPr id="15" name="显示成员编辑状态与文件占用，&#10;提供冲突检测、差异比较和合并确认。">
            <a:extLst xmlns:a="http://schemas.openxmlformats.org/drawingml/2006/main">
              <a:ext uri="{FF2B5EF4-FFF2-40B4-BE49-F238E27FC236}">
                <a16:creationId xmlns:a16="http://schemas.microsoft.com/office/drawing/2014/main" id="{A240A2D7-D184-449E-9859-A0E25090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295900"/>
            <a:ext cx="4543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显示成员编辑状态与文件占用，</a:t>
            </a:r>
          </a:p>
          <a:p xmlns:a="http://schemas.openxmlformats.org/drawingml/2006/main">
            <a:pPr>
              <a:def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91F"/>
                </a:solidFill>
                <a:latin typeface="Microsoft YaHei"/>
                <a:ea typeface="Microsoft YaHei"/>
                <a:cs typeface="Microsoft YaHei"/>
              </a:rPr>
              <a:t>提供冲突检测、差异比较和合并确认。</a:t>
            </a:r>
          </a:p>
        </p:txBody>
      </p:sp>
    </p:spTree>
    <p:extLst>
      <p:ext uri="{BB962C8B-B14F-4D97-AF65-F5344CB8AC3E}">
        <p14:creationId xmlns:p14="http://schemas.microsoft.com/office/powerpoint/2010/main" val="1946327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2026-10-12T09:06:13.5220000Z</dcterms:created>
  <dcterms:modified xsi:type="dcterms:W3CDTF">2026-10-12T09:06:13.5220000Z</dcterms:modified>
</coreProperties>
</file>